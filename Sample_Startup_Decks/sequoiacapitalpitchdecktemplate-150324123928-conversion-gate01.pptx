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439" y="215005"/>
            <a:ext cx="428244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67676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67676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6885" y="6555799"/>
            <a:ext cx="1410245" cy="18596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061"/>
            <a:ext cx="9144000" cy="1114425"/>
          </a:xfrm>
          <a:custGeom>
            <a:avLst/>
            <a:gdLst/>
            <a:ahLst/>
            <a:cxnLst/>
            <a:rect l="l" t="t" r="r" b="b"/>
            <a:pathLst>
              <a:path w="9144000" h="1114425">
                <a:moveTo>
                  <a:pt x="9143998" y="0"/>
                </a:moveTo>
                <a:lnTo>
                  <a:pt x="0" y="0"/>
                </a:lnTo>
                <a:lnTo>
                  <a:pt x="0" y="1113847"/>
                </a:lnTo>
                <a:lnTo>
                  <a:pt x="9143998" y="1113847"/>
                </a:lnTo>
                <a:lnTo>
                  <a:pt x="9143998" y="0"/>
                </a:lnTo>
                <a:close/>
              </a:path>
            </a:pathLst>
          </a:custGeom>
          <a:solidFill>
            <a:srgbClr val="4FB8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439" y="-57283"/>
            <a:ext cx="3815715" cy="1130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233" y="1598572"/>
            <a:ext cx="7929532" cy="2062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67676"/>
                </a:solidFill>
                <a:latin typeface="Franklin Gothic Book"/>
                <a:cs typeface="Franklin Gothic Boo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37054" y="6492612"/>
            <a:ext cx="379095" cy="31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equoiacap.com/grove/posts/6bzx/writing-a-business-plan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061"/>
            <a:ext cx="9144000" cy="6852284"/>
          </a:xfrm>
          <a:custGeom>
            <a:avLst/>
            <a:gdLst/>
            <a:ahLst/>
            <a:cxnLst/>
            <a:rect l="l" t="t" r="r" b="b"/>
            <a:pathLst>
              <a:path w="9144000" h="6852284">
                <a:moveTo>
                  <a:pt x="9143998" y="0"/>
                </a:moveTo>
                <a:lnTo>
                  <a:pt x="0" y="0"/>
                </a:lnTo>
                <a:lnTo>
                  <a:pt x="0" y="6851937"/>
                </a:lnTo>
                <a:lnTo>
                  <a:pt x="9143998" y="6851937"/>
                </a:lnTo>
                <a:lnTo>
                  <a:pt x="9143998" y="0"/>
                </a:lnTo>
                <a:close/>
              </a:path>
            </a:pathLst>
          </a:custGeom>
          <a:solidFill>
            <a:srgbClr val="4FB8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731" y="1388855"/>
            <a:ext cx="7427595" cy="2114550"/>
          </a:xfrm>
          <a:prstGeom prst="rect"/>
        </p:spPr>
        <p:txBody>
          <a:bodyPr wrap="square" lIns="0" tIns="1073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4"/>
              </a:spcBef>
              <a:tabLst>
                <a:tab pos="4117975" algn="l"/>
              </a:tabLst>
            </a:pPr>
            <a:r>
              <a:rPr dirty="0" sz="8800" spc="-10"/>
              <a:t>Sequoia</a:t>
            </a:r>
            <a:r>
              <a:rPr dirty="0" sz="8800"/>
              <a:t>	</a:t>
            </a:r>
            <a:r>
              <a:rPr dirty="0" sz="8800" spc="-10"/>
              <a:t>Capital</a:t>
            </a:r>
            <a:endParaRPr sz="8800"/>
          </a:p>
          <a:p>
            <a:pPr algn="ctr" marR="131445">
              <a:lnSpc>
                <a:spcPct val="100000"/>
              </a:lnSpc>
              <a:spcBef>
                <a:spcPts val="340"/>
              </a:spcBef>
            </a:pPr>
            <a:r>
              <a:rPr dirty="0" sz="4000"/>
              <a:t>Pitch</a:t>
            </a:r>
            <a:r>
              <a:rPr dirty="0" sz="4000" spc="-60"/>
              <a:t> </a:t>
            </a:r>
            <a:r>
              <a:rPr dirty="0" sz="4000"/>
              <a:t>Deck</a:t>
            </a:r>
            <a:r>
              <a:rPr dirty="0" sz="4000" spc="-55"/>
              <a:t> </a:t>
            </a:r>
            <a:r>
              <a:rPr dirty="0" sz="4000" spc="-10"/>
              <a:t>Template</a:t>
            </a:r>
            <a:endParaRPr sz="4000"/>
          </a:p>
        </p:txBody>
      </p:sp>
      <p:sp>
        <p:nvSpPr>
          <p:cNvPr id="4" name="object 4" descr=""/>
          <p:cNvSpPr txBox="1"/>
          <p:nvPr/>
        </p:nvSpPr>
        <p:spPr>
          <a:xfrm>
            <a:off x="1517014" y="4836650"/>
            <a:ext cx="611568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Franklin Gothic Book"/>
                <a:cs typeface="Franklin Gothic Book"/>
              </a:rPr>
              <a:t>Reproduced</a:t>
            </a:r>
            <a:r>
              <a:rPr dirty="0" sz="1800" spc="-60">
                <a:solidFill>
                  <a:srgbClr val="FFFFFF"/>
                </a:solidFill>
                <a:latin typeface="Franklin Gothic Book"/>
                <a:cs typeface="Franklin Gothic Book"/>
              </a:rPr>
              <a:t> </a:t>
            </a:r>
            <a:r>
              <a:rPr dirty="0" sz="1800">
                <a:solidFill>
                  <a:srgbClr val="FFFFFF"/>
                </a:solidFill>
                <a:latin typeface="Franklin Gothic Book"/>
                <a:cs typeface="Franklin Gothic Book"/>
              </a:rPr>
              <a:t>by</a:t>
            </a:r>
            <a:r>
              <a:rPr dirty="0" sz="1800" spc="-60">
                <a:solidFill>
                  <a:srgbClr val="FFFFFF"/>
                </a:solidFill>
                <a:latin typeface="Franklin Gothic Book"/>
                <a:cs typeface="Franklin Gothic Book"/>
              </a:rPr>
              <a:t> </a:t>
            </a:r>
            <a:r>
              <a:rPr dirty="0" sz="1800">
                <a:solidFill>
                  <a:srgbClr val="FFFFFF"/>
                </a:solidFill>
                <a:latin typeface="Franklin Gothic Book"/>
                <a:cs typeface="Franklin Gothic Book"/>
              </a:rPr>
              <a:t>PitchDeckCoach</a:t>
            </a:r>
            <a:r>
              <a:rPr dirty="0" sz="1800" spc="-65">
                <a:solidFill>
                  <a:srgbClr val="FFFFFF"/>
                </a:solidFill>
                <a:latin typeface="Franklin Gothic Book"/>
                <a:cs typeface="Franklin Gothic Book"/>
              </a:rPr>
              <a:t> </a:t>
            </a:r>
            <a:r>
              <a:rPr dirty="0" sz="1800">
                <a:solidFill>
                  <a:srgbClr val="FFFFFF"/>
                </a:solidFill>
                <a:latin typeface="Franklin Gothic Book"/>
                <a:cs typeface="Franklin Gothic Book"/>
              </a:rPr>
              <a:t>from</a:t>
            </a:r>
            <a:r>
              <a:rPr dirty="0" sz="1800" spc="-55">
                <a:solidFill>
                  <a:srgbClr val="FFFFFF"/>
                </a:solidFill>
                <a:latin typeface="Franklin Gothic Book"/>
                <a:cs typeface="Franklin Gothic Book"/>
              </a:rPr>
              <a:t> </a:t>
            </a:r>
            <a:r>
              <a:rPr dirty="0" sz="1800">
                <a:solidFill>
                  <a:srgbClr val="FFFFFF"/>
                </a:solidFill>
                <a:latin typeface="Franklin Gothic Book"/>
                <a:cs typeface="Franklin Gothic Book"/>
              </a:rPr>
              <a:t>info</a:t>
            </a:r>
            <a:r>
              <a:rPr dirty="0" sz="1800" spc="-65">
                <a:solidFill>
                  <a:srgbClr val="FFFFFF"/>
                </a:solidFill>
                <a:latin typeface="Franklin Gothic Book"/>
                <a:cs typeface="Franklin Gothic Book"/>
              </a:rPr>
              <a:t> </a:t>
            </a:r>
            <a:r>
              <a:rPr dirty="0" sz="1800">
                <a:solidFill>
                  <a:srgbClr val="FFFFFF"/>
                </a:solidFill>
                <a:latin typeface="Franklin Gothic Book"/>
                <a:cs typeface="Franklin Gothic Book"/>
              </a:rPr>
              <a:t>presented</a:t>
            </a:r>
            <a:r>
              <a:rPr dirty="0" sz="1800" spc="-55">
                <a:solidFill>
                  <a:srgbClr val="FFFFFF"/>
                </a:solidFill>
                <a:latin typeface="Franklin Gothic Book"/>
                <a:cs typeface="Franklin Gothic Book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Franklin Gothic Book"/>
                <a:cs typeface="Franklin Gothic Book"/>
              </a:rPr>
              <a:t>at</a:t>
            </a:r>
            <a:endParaRPr sz="1800">
              <a:latin typeface="Franklin Gothic Book"/>
              <a:cs typeface="Franklin Gothic Book"/>
            </a:endParaRPr>
          </a:p>
          <a:p>
            <a:pPr algn="ctr">
              <a:lnSpc>
                <a:spcPts val="1889"/>
              </a:lnSpc>
            </a:pPr>
            <a:r>
              <a:rPr dirty="0" sz="1600" spc="-10">
                <a:solidFill>
                  <a:srgbClr val="FFFFFF"/>
                </a:solidFill>
                <a:latin typeface="Franklin Gothic Book"/>
                <a:cs typeface="Franklin Gothic Book"/>
                <a:hlinkClick r:id="rId2"/>
              </a:rPr>
              <a:t>http://www.sequoiacap.com/grove/posts/6bzx/writing-a-business-</a:t>
            </a:r>
            <a:r>
              <a:rPr dirty="0" sz="1600" spc="-20">
                <a:solidFill>
                  <a:srgbClr val="FFFFFF"/>
                </a:solidFill>
                <a:latin typeface="Franklin Gothic Book"/>
                <a:cs typeface="Franklin Gothic Book"/>
                <a:hlinkClick r:id="rId2"/>
              </a:rPr>
              <a:t>plan</a:t>
            </a:r>
            <a:endParaRPr sz="16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pc="-20"/>
              <a:t>Flow</a:t>
            </a:r>
          </a:p>
          <a:p>
            <a:pPr marL="24765">
              <a:lnSpc>
                <a:spcPct val="100000"/>
              </a:lnSpc>
              <a:spcBef>
                <a:spcPts val="320"/>
              </a:spcBef>
            </a:pPr>
            <a:r>
              <a:rPr dirty="0" sz="2000"/>
              <a:t>FYI</a:t>
            </a:r>
            <a:r>
              <a:rPr dirty="0" sz="2000" spc="-40"/>
              <a:t> </a:t>
            </a:r>
            <a:r>
              <a:rPr dirty="0" sz="2000"/>
              <a:t>Only</a:t>
            </a:r>
            <a:r>
              <a:rPr dirty="0" sz="2000" spc="-40"/>
              <a:t> </a:t>
            </a:r>
            <a:r>
              <a:rPr dirty="0" sz="2000"/>
              <a:t>–</a:t>
            </a:r>
            <a:r>
              <a:rPr dirty="0" sz="2000" spc="-45"/>
              <a:t> </a:t>
            </a:r>
            <a:r>
              <a:rPr dirty="0" sz="2000"/>
              <a:t>NOT</a:t>
            </a:r>
            <a:r>
              <a:rPr dirty="0" sz="2000" spc="-35"/>
              <a:t> </a:t>
            </a:r>
            <a:r>
              <a:rPr dirty="0" sz="2000"/>
              <a:t>a</a:t>
            </a:r>
            <a:r>
              <a:rPr dirty="0" sz="2000" spc="-40"/>
              <a:t> </a:t>
            </a:r>
            <a:r>
              <a:rPr dirty="0" sz="2000"/>
              <a:t>slide</a:t>
            </a:r>
            <a:r>
              <a:rPr dirty="0" sz="2000" spc="-40"/>
              <a:t> </a:t>
            </a:r>
            <a:r>
              <a:rPr dirty="0" sz="2000"/>
              <a:t>for</a:t>
            </a:r>
            <a:r>
              <a:rPr dirty="0" sz="2000" spc="-35"/>
              <a:t> </a:t>
            </a:r>
            <a:r>
              <a:rPr dirty="0" sz="2000"/>
              <a:t>your</a:t>
            </a:r>
            <a:r>
              <a:rPr dirty="0" sz="2000" spc="-40"/>
              <a:t> </a:t>
            </a:r>
            <a:r>
              <a:rPr dirty="0" sz="2000" spc="-20"/>
              <a:t>deck</a:t>
            </a:r>
            <a:endParaRPr sz="20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114314" y="1535580"/>
            <a:ext cx="2347595" cy="4328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</a:pPr>
            <a:r>
              <a:rPr dirty="0" sz="2400">
                <a:solidFill>
                  <a:srgbClr val="767676"/>
                </a:solidFill>
                <a:latin typeface="Franklin Gothic Book"/>
                <a:cs typeface="Franklin Gothic Book"/>
              </a:rPr>
              <a:t>Company</a:t>
            </a:r>
            <a:r>
              <a:rPr dirty="0" sz="2400" spc="-13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2400" spc="-10">
                <a:solidFill>
                  <a:srgbClr val="767676"/>
                </a:solidFill>
                <a:latin typeface="Franklin Gothic Book"/>
                <a:cs typeface="Franklin Gothic Book"/>
              </a:rPr>
              <a:t>Purpose Problem</a:t>
            </a:r>
            <a:endParaRPr sz="2400">
              <a:latin typeface="Franklin Gothic Book"/>
              <a:cs typeface="Franklin Gothic Book"/>
            </a:endParaRPr>
          </a:p>
          <a:p>
            <a:pPr marL="12700" marR="775335">
              <a:lnSpc>
                <a:spcPct val="119800"/>
              </a:lnSpc>
              <a:spcBef>
                <a:spcPts val="50"/>
              </a:spcBef>
            </a:pPr>
            <a:r>
              <a:rPr dirty="0" sz="2400" spc="-10">
                <a:solidFill>
                  <a:srgbClr val="767676"/>
                </a:solidFill>
                <a:latin typeface="Franklin Gothic Book"/>
                <a:cs typeface="Franklin Gothic Book"/>
              </a:rPr>
              <a:t>Solution </a:t>
            </a:r>
            <a:r>
              <a:rPr dirty="0" sz="2400">
                <a:solidFill>
                  <a:srgbClr val="767676"/>
                </a:solidFill>
                <a:latin typeface="Franklin Gothic Book"/>
                <a:cs typeface="Franklin Gothic Book"/>
              </a:rPr>
              <a:t>Why</a:t>
            </a:r>
            <a:r>
              <a:rPr dirty="0" sz="2400" spc="-10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2400" spc="-25">
                <a:solidFill>
                  <a:srgbClr val="767676"/>
                </a:solidFill>
                <a:latin typeface="Franklin Gothic Book"/>
                <a:cs typeface="Franklin Gothic Book"/>
              </a:rPr>
              <a:t>Now </a:t>
            </a:r>
            <a:r>
              <a:rPr dirty="0" sz="2400">
                <a:solidFill>
                  <a:srgbClr val="767676"/>
                </a:solidFill>
                <a:latin typeface="Franklin Gothic Book"/>
                <a:cs typeface="Franklin Gothic Book"/>
              </a:rPr>
              <a:t>Market</a:t>
            </a:r>
            <a:r>
              <a:rPr dirty="0" sz="2400" spc="-13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2400" spc="-20">
                <a:solidFill>
                  <a:srgbClr val="767676"/>
                </a:solidFill>
                <a:latin typeface="Franklin Gothic Book"/>
                <a:cs typeface="Franklin Gothic Book"/>
              </a:rPr>
              <a:t>Size </a:t>
            </a:r>
            <a:r>
              <a:rPr dirty="0" sz="2400" spc="-10">
                <a:solidFill>
                  <a:srgbClr val="767676"/>
                </a:solidFill>
                <a:latin typeface="Franklin Gothic Book"/>
                <a:cs typeface="Franklin Gothic Book"/>
              </a:rPr>
              <a:t>Competition Product</a:t>
            </a:r>
            <a:endParaRPr sz="2400">
              <a:latin typeface="Franklin Gothic Book"/>
              <a:cs typeface="Franklin Gothic Book"/>
            </a:endParaRPr>
          </a:p>
          <a:p>
            <a:pPr marL="12700" marR="284480">
              <a:lnSpc>
                <a:spcPct val="109800"/>
              </a:lnSpc>
              <a:spcBef>
                <a:spcPts val="335"/>
              </a:spcBef>
            </a:pPr>
            <a:r>
              <a:rPr dirty="0" sz="2400">
                <a:solidFill>
                  <a:srgbClr val="767676"/>
                </a:solidFill>
                <a:latin typeface="Franklin Gothic Book"/>
                <a:cs typeface="Franklin Gothic Book"/>
              </a:rPr>
              <a:t>Business</a:t>
            </a:r>
            <a:r>
              <a:rPr dirty="0" sz="2400" spc="-1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2400" spc="-20">
                <a:solidFill>
                  <a:srgbClr val="767676"/>
                </a:solidFill>
                <a:latin typeface="Franklin Gothic Book"/>
                <a:cs typeface="Franklin Gothic Book"/>
              </a:rPr>
              <a:t>Model Team</a:t>
            </a:r>
            <a:r>
              <a:rPr dirty="0" sz="2400" spc="-10">
                <a:solidFill>
                  <a:srgbClr val="767676"/>
                </a:solidFill>
                <a:latin typeface="Franklin Gothic Book"/>
                <a:cs typeface="Franklin Gothic Book"/>
              </a:rPr>
              <a:t> Financials</a:t>
            </a:r>
            <a:endParaRPr sz="24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Company</a:t>
            </a:r>
            <a:r>
              <a:rPr dirty="0" spc="-250"/>
              <a:t> </a:t>
            </a:r>
            <a:r>
              <a:rPr dirty="0" spc="-10"/>
              <a:t>Purpose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7003415" cy="99568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Define</a:t>
            </a:r>
            <a:r>
              <a:rPr dirty="0" sz="3200" spc="-3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3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company/business</a:t>
            </a:r>
            <a:r>
              <a:rPr dirty="0" sz="3200" spc="-3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in</a:t>
            </a:r>
            <a:r>
              <a:rPr dirty="0" sz="3200" spc="-3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</a:t>
            </a:r>
            <a:r>
              <a:rPr dirty="0" sz="3200" spc="-3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single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declarative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sentence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39" y="215005"/>
            <a:ext cx="197738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Problem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7944484" cy="255778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887094">
              <a:lnSpc>
                <a:spcPts val="3800"/>
              </a:lnSpc>
              <a:spcBef>
                <a:spcPts val="26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Describe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pain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of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customer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(or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5">
                <a:solidFill>
                  <a:srgbClr val="767676"/>
                </a:solidFill>
                <a:latin typeface="Franklin Gothic Book"/>
                <a:cs typeface="Franklin Gothic Book"/>
              </a:rPr>
              <a:t>the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customer’s</a:t>
            </a:r>
            <a:r>
              <a:rPr dirty="0" sz="3200" spc="-13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customer)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Outline</a:t>
            </a:r>
            <a:r>
              <a:rPr dirty="0" sz="3200" spc="-5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how</a:t>
            </a:r>
            <a:r>
              <a:rPr dirty="0" sz="3200" spc="-5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5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customer</a:t>
            </a:r>
            <a:r>
              <a:rPr dirty="0" sz="3200" spc="-5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addresses</a:t>
            </a:r>
            <a:r>
              <a:rPr dirty="0" sz="3200" spc="-5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5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issue today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9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Solution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7808595" cy="313817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Demonstrate</a:t>
            </a:r>
            <a:r>
              <a:rPr dirty="0" sz="3200" spc="-12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your</a:t>
            </a:r>
            <a:r>
              <a:rPr dirty="0" sz="3200" spc="-12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company’s</a:t>
            </a:r>
            <a:r>
              <a:rPr dirty="0" sz="3200" spc="-12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value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proposition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to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make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9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customer’s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life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better</a:t>
            </a:r>
            <a:endParaRPr sz="3200">
              <a:latin typeface="Franklin Gothic Book"/>
              <a:cs typeface="Franklin Gothic Book"/>
            </a:endParaRPr>
          </a:p>
          <a:p>
            <a:pPr marL="12700" marR="1035685">
              <a:lnSpc>
                <a:spcPts val="8400"/>
              </a:lnSpc>
              <a:spcBef>
                <a:spcPts val="78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Show</a:t>
            </a:r>
            <a:r>
              <a:rPr dirty="0" sz="3200" spc="-7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where</a:t>
            </a:r>
            <a:r>
              <a:rPr dirty="0" sz="3200" spc="-7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your</a:t>
            </a:r>
            <a:r>
              <a:rPr dirty="0" sz="3200" spc="-7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product</a:t>
            </a:r>
            <a:r>
              <a:rPr dirty="0" sz="3200" spc="-7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physically</a:t>
            </a:r>
            <a:r>
              <a:rPr dirty="0" sz="3200" spc="-8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sits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Provide</a:t>
            </a:r>
            <a:r>
              <a:rPr dirty="0" sz="3200" spc="-9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use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cases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9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130"/>
              <a:t> </a:t>
            </a:r>
            <a:r>
              <a:rPr dirty="0" spc="-25"/>
              <a:t>Now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Set-</a:t>
            </a:r>
            <a:r>
              <a:rPr dirty="0"/>
              <a:t>up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historical</a:t>
            </a:r>
            <a:r>
              <a:rPr dirty="0" spc="-65"/>
              <a:t> </a:t>
            </a:r>
            <a:r>
              <a:rPr dirty="0"/>
              <a:t>evolution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your</a:t>
            </a:r>
            <a:r>
              <a:rPr dirty="0" spc="-65"/>
              <a:t> </a:t>
            </a:r>
            <a:r>
              <a:rPr dirty="0" spc="-10"/>
              <a:t>category</a:t>
            </a:r>
          </a:p>
          <a:p>
            <a:pPr>
              <a:lnSpc>
                <a:spcPct val="100000"/>
              </a:lnSpc>
              <a:spcBef>
                <a:spcPts val="894"/>
              </a:spcBef>
            </a:pPr>
          </a:p>
          <a:p>
            <a:pPr marL="12700" marR="255904">
              <a:lnSpc>
                <a:spcPct val="100000"/>
              </a:lnSpc>
              <a:spcBef>
                <a:spcPts val="5"/>
              </a:spcBef>
            </a:pPr>
            <a:r>
              <a:rPr dirty="0"/>
              <a:t>Define</a:t>
            </a:r>
            <a:r>
              <a:rPr dirty="0" spc="-55"/>
              <a:t> </a:t>
            </a:r>
            <a:r>
              <a:rPr dirty="0"/>
              <a:t>recent</a:t>
            </a:r>
            <a:r>
              <a:rPr dirty="0" spc="-50"/>
              <a:t> </a:t>
            </a:r>
            <a:r>
              <a:rPr dirty="0"/>
              <a:t>trends</a:t>
            </a:r>
            <a:r>
              <a:rPr dirty="0" spc="-50"/>
              <a:t> </a:t>
            </a:r>
            <a:r>
              <a:rPr dirty="0"/>
              <a:t>that</a:t>
            </a:r>
            <a:r>
              <a:rPr dirty="0" spc="-50"/>
              <a:t> </a:t>
            </a:r>
            <a:r>
              <a:rPr dirty="0"/>
              <a:t>make</a:t>
            </a:r>
            <a:r>
              <a:rPr dirty="0" spc="-50"/>
              <a:t> </a:t>
            </a:r>
            <a:r>
              <a:rPr dirty="0"/>
              <a:t>your</a:t>
            </a:r>
            <a:r>
              <a:rPr dirty="0" spc="-50"/>
              <a:t> </a:t>
            </a:r>
            <a:r>
              <a:rPr dirty="0" spc="-10"/>
              <a:t>solution 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39" y="215005"/>
            <a:ext cx="27965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9114" algn="l"/>
              </a:tabLst>
            </a:pPr>
            <a:r>
              <a:rPr dirty="0" spc="-10"/>
              <a:t>Market</a:t>
            </a:r>
            <a:r>
              <a:rPr dirty="0"/>
              <a:t>	</a:t>
            </a:r>
            <a:r>
              <a:rPr dirty="0" spc="-20"/>
              <a:t>Size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7602220" cy="2062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Identify/profile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customer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you</a:t>
            </a:r>
            <a:r>
              <a:rPr dirty="0" sz="3200" spc="-8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cater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5">
                <a:solidFill>
                  <a:srgbClr val="767676"/>
                </a:solidFill>
                <a:latin typeface="Franklin Gothic Book"/>
                <a:cs typeface="Franklin Gothic Book"/>
              </a:rPr>
              <a:t>to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Calculate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TAM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(top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down),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SAM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(bottoms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up)</a:t>
            </a:r>
            <a:r>
              <a:rPr dirty="0" sz="3200" spc="-3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and</a:t>
            </a:r>
            <a:r>
              <a:rPr dirty="0" sz="3200" spc="-3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5">
                <a:solidFill>
                  <a:srgbClr val="767676"/>
                </a:solidFill>
                <a:latin typeface="Franklin Gothic Book"/>
                <a:cs typeface="Franklin Gothic Book"/>
              </a:rPr>
              <a:t>SOM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9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Competition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4801870" cy="1576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List</a:t>
            </a:r>
            <a:r>
              <a:rPr dirty="0" sz="3200" spc="-4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competitors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List</a:t>
            </a:r>
            <a:r>
              <a:rPr dirty="0" sz="3200" spc="-10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competitive</a:t>
            </a:r>
            <a:r>
              <a:rPr dirty="0" sz="3200" spc="-10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advantages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39" y="215005"/>
            <a:ext cx="18383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Product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ts val="23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7433309" cy="207137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Product</a:t>
            </a:r>
            <a:r>
              <a:rPr dirty="0" sz="3200" spc="-9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line-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up</a:t>
            </a:r>
            <a:r>
              <a:rPr dirty="0" sz="3200" spc="-9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(form</a:t>
            </a:r>
            <a:r>
              <a:rPr dirty="0" sz="3200" spc="-9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factor,</a:t>
            </a:r>
            <a:r>
              <a:rPr dirty="0" sz="3200" spc="-9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functionality,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features,</a:t>
            </a:r>
            <a:r>
              <a:rPr dirty="0" sz="3200" spc="-14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architecture,</a:t>
            </a:r>
            <a:r>
              <a:rPr dirty="0" sz="3200" spc="-14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intellectual</a:t>
            </a:r>
            <a:r>
              <a:rPr dirty="0" sz="3200" spc="-14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property)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Development</a:t>
            </a:r>
            <a:r>
              <a:rPr dirty="0" sz="3200" spc="-114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roadmap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9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65"/>
              <a:t> </a:t>
            </a:r>
            <a:r>
              <a:rPr dirty="0" spc="-10"/>
              <a:t>Model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9845">
              <a:lnSpc>
                <a:spcPts val="2335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483122"/>
            <a:ext cx="7296150" cy="4801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Revenue</a:t>
            </a:r>
            <a:r>
              <a:rPr dirty="0" sz="3200" spc="-15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model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Pricing</a:t>
            </a: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ct val="220100"/>
              </a:lnSpc>
              <a:spcBef>
                <a:spcPts val="4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Average</a:t>
            </a:r>
            <a:r>
              <a:rPr dirty="0" sz="3200" spc="-9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account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size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and/or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lifetime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value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Sales</a:t>
            </a:r>
            <a:r>
              <a:rPr dirty="0" sz="3200" spc="-7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&amp;</a:t>
            </a:r>
            <a:r>
              <a:rPr dirty="0" sz="3200" spc="-6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distribution</a:t>
            </a:r>
            <a:r>
              <a:rPr dirty="0" sz="3200" spc="-7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model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Customer/pipeline</a:t>
            </a:r>
            <a:r>
              <a:rPr dirty="0" sz="3200" spc="-16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list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39" y="215005"/>
            <a:ext cx="130175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Team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9845">
              <a:lnSpc>
                <a:spcPts val="2335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598572"/>
            <a:ext cx="6297295" cy="1677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Founders</a:t>
            </a:r>
            <a:r>
              <a:rPr dirty="0" sz="3200" spc="-7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&amp;</a:t>
            </a:r>
            <a:r>
              <a:rPr dirty="0" sz="3200" spc="-7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Management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Board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of</a:t>
            </a:r>
            <a:r>
              <a:rPr dirty="0" sz="3200" spc="-8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Directors/Board</a:t>
            </a:r>
            <a:r>
              <a:rPr dirty="0" sz="3200" spc="-8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of</a:t>
            </a:r>
            <a:r>
              <a:rPr dirty="0" sz="3200" spc="-8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Advisors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9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Financials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9845">
              <a:lnSpc>
                <a:spcPts val="2335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521" y="1402307"/>
            <a:ext cx="2472055" cy="4801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>
                <a:solidFill>
                  <a:srgbClr val="767676"/>
                </a:solidFill>
                <a:latin typeface="Franklin Gothic Book"/>
                <a:cs typeface="Franklin Gothic Book"/>
              </a:rPr>
              <a:t>P&amp;L</a:t>
            </a: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ts val="8500"/>
              </a:lnSpc>
              <a:spcBef>
                <a:spcPts val="92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Balance</a:t>
            </a:r>
            <a:r>
              <a:rPr dirty="0" sz="3200" spc="-25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sheet </a:t>
            </a: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Cash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 flow</a:t>
            </a: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3500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Cap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table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dirty="0" sz="3200" spc="-1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dirty="0" sz="3200" spc="-20">
                <a:solidFill>
                  <a:srgbClr val="767676"/>
                </a:solidFill>
                <a:latin typeface="Franklin Gothic Book"/>
                <a:cs typeface="Franklin Gothic Book"/>
              </a:rPr>
              <a:t>deal</a:t>
            </a:r>
            <a:endParaRPr sz="32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061"/>
            <a:ext cx="9144000" cy="6852284"/>
          </a:xfrm>
          <a:custGeom>
            <a:avLst/>
            <a:gdLst/>
            <a:ahLst/>
            <a:cxnLst/>
            <a:rect l="l" t="t" r="r" b="b"/>
            <a:pathLst>
              <a:path w="9144000" h="6852284">
                <a:moveTo>
                  <a:pt x="9143998" y="0"/>
                </a:moveTo>
                <a:lnTo>
                  <a:pt x="0" y="0"/>
                </a:lnTo>
                <a:lnTo>
                  <a:pt x="0" y="6851937"/>
                </a:lnTo>
                <a:lnTo>
                  <a:pt x="9143998" y="6851937"/>
                </a:lnTo>
                <a:lnTo>
                  <a:pt x="9143998" y="0"/>
                </a:lnTo>
                <a:close/>
              </a:path>
            </a:pathLst>
          </a:custGeom>
          <a:solidFill>
            <a:srgbClr val="4FB8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8197" y="1129272"/>
            <a:ext cx="7548880" cy="1361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310"/>
              </a:lnSpc>
              <a:spcBef>
                <a:spcPts val="100"/>
              </a:spcBef>
              <a:tabLst>
                <a:tab pos="854710" algn="l"/>
                <a:tab pos="1727200" algn="l"/>
                <a:tab pos="2548255" algn="l"/>
                <a:tab pos="3385820" algn="l"/>
              </a:tabLst>
            </a:pPr>
            <a:r>
              <a:rPr dirty="0" sz="3600" spc="-25">
                <a:latin typeface="Avenir Book"/>
                <a:cs typeface="Avenir Book"/>
              </a:rPr>
              <a:t>Did</a:t>
            </a:r>
            <a:r>
              <a:rPr dirty="0" sz="3600">
                <a:latin typeface="Avenir Book"/>
                <a:cs typeface="Avenir Book"/>
              </a:rPr>
              <a:t>	</a:t>
            </a:r>
            <a:r>
              <a:rPr dirty="0" sz="3600" spc="-25">
                <a:latin typeface="Avenir Book"/>
                <a:cs typeface="Avenir Book"/>
              </a:rPr>
              <a:t>you</a:t>
            </a:r>
            <a:r>
              <a:rPr dirty="0" sz="3600">
                <a:latin typeface="Avenir Book"/>
                <a:cs typeface="Avenir Book"/>
              </a:rPr>
              <a:t>	</a:t>
            </a:r>
            <a:r>
              <a:rPr dirty="0" sz="3600" spc="-20">
                <a:latin typeface="Avenir Book"/>
                <a:cs typeface="Avenir Book"/>
              </a:rPr>
              <a:t>like</a:t>
            </a:r>
            <a:r>
              <a:rPr dirty="0" sz="3600">
                <a:latin typeface="Avenir Book"/>
                <a:cs typeface="Avenir Book"/>
              </a:rPr>
              <a:t>	</a:t>
            </a:r>
            <a:r>
              <a:rPr dirty="0" sz="3600" spc="-20">
                <a:latin typeface="Avenir Book"/>
                <a:cs typeface="Avenir Book"/>
              </a:rPr>
              <a:t>this</a:t>
            </a:r>
            <a:r>
              <a:rPr dirty="0" sz="3600">
                <a:latin typeface="Avenir Book"/>
                <a:cs typeface="Avenir Book"/>
              </a:rPr>
              <a:t>	</a:t>
            </a:r>
            <a:r>
              <a:rPr dirty="0" sz="3600" spc="-10">
                <a:latin typeface="Avenir Book"/>
                <a:cs typeface="Avenir Book"/>
              </a:rPr>
              <a:t>presentation?</a:t>
            </a:r>
            <a:endParaRPr sz="3600">
              <a:latin typeface="Avenir Book"/>
              <a:cs typeface="Avenir Book"/>
            </a:endParaRPr>
          </a:p>
          <a:p>
            <a:pPr algn="ctr" marL="12700" marR="5080">
              <a:lnSpc>
                <a:spcPts val="3100"/>
              </a:lnSpc>
              <a:spcBef>
                <a:spcPts val="110"/>
              </a:spcBef>
            </a:pPr>
            <a:r>
              <a:rPr dirty="0" sz="2600">
                <a:latin typeface="Avenir Book"/>
                <a:cs typeface="Avenir Book"/>
              </a:rPr>
              <a:t>If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yes,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please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click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the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Like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button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in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the</a:t>
            </a:r>
            <a:r>
              <a:rPr dirty="0" sz="2600" spc="-40">
                <a:latin typeface="Avenir Book"/>
                <a:cs typeface="Avenir Book"/>
              </a:rPr>
              <a:t> </a:t>
            </a:r>
            <a:r>
              <a:rPr dirty="0" sz="2600" spc="-10">
                <a:latin typeface="Avenir Book"/>
                <a:cs typeface="Avenir Book"/>
              </a:rPr>
              <a:t>SlideShare </a:t>
            </a:r>
            <a:r>
              <a:rPr dirty="0" sz="2600">
                <a:latin typeface="Avenir Book"/>
                <a:cs typeface="Avenir Book"/>
              </a:rPr>
              <a:t>toolbar</a:t>
            </a:r>
            <a:r>
              <a:rPr dirty="0" sz="2600" spc="-80">
                <a:latin typeface="Avenir Book"/>
                <a:cs typeface="Avenir Book"/>
              </a:rPr>
              <a:t> </a:t>
            </a:r>
            <a:r>
              <a:rPr dirty="0" sz="2600">
                <a:latin typeface="Avenir Book"/>
                <a:cs typeface="Avenir Book"/>
              </a:rPr>
              <a:t>below.</a:t>
            </a:r>
            <a:r>
              <a:rPr dirty="0" sz="2600" spc="-75">
                <a:latin typeface="Avenir Book"/>
                <a:cs typeface="Avenir Book"/>
              </a:rPr>
              <a:t> </a:t>
            </a:r>
            <a:r>
              <a:rPr dirty="0" sz="2600" spc="-10">
                <a:latin typeface="Avenir Book"/>
                <a:cs typeface="Avenir Book"/>
              </a:rPr>
              <a:t>Thanks!</a:t>
            </a:r>
            <a:endParaRPr sz="2600">
              <a:latin typeface="Avenir Book"/>
              <a:cs typeface="Avenir Boo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3902" y="4291572"/>
            <a:ext cx="8257540" cy="1374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310"/>
              </a:lnSpc>
              <a:spcBef>
                <a:spcPts val="100"/>
              </a:spcBef>
              <a:tabLst>
                <a:tab pos="1270000" algn="l"/>
                <a:tab pos="2294890" algn="l"/>
                <a:tab pos="3267710" algn="l"/>
                <a:tab pos="4291965" algn="l"/>
                <a:tab pos="5434965" algn="l"/>
              </a:tabLst>
            </a:pPr>
            <a:r>
              <a:rPr dirty="0" sz="3600" spc="-20">
                <a:solidFill>
                  <a:srgbClr val="FFFFFF"/>
                </a:solidFill>
                <a:latin typeface="Avenir Book"/>
                <a:cs typeface="Avenir Book"/>
              </a:rPr>
              <a:t>Need</a:t>
            </a:r>
            <a:r>
              <a:rPr dirty="0" sz="3600">
                <a:solidFill>
                  <a:srgbClr val="FFFFFF"/>
                </a:solidFill>
                <a:latin typeface="Avenir Book"/>
                <a:cs typeface="Avenir Book"/>
              </a:rPr>
              <a:t>	</a:t>
            </a:r>
            <a:r>
              <a:rPr dirty="0" sz="3600" spc="-20">
                <a:solidFill>
                  <a:srgbClr val="FFFFFF"/>
                </a:solidFill>
                <a:latin typeface="Avenir Book"/>
                <a:cs typeface="Avenir Book"/>
              </a:rPr>
              <a:t>help</a:t>
            </a:r>
            <a:r>
              <a:rPr dirty="0" sz="3600">
                <a:solidFill>
                  <a:srgbClr val="FFFFFF"/>
                </a:solidFill>
                <a:latin typeface="Avenir Book"/>
                <a:cs typeface="Avenir Book"/>
              </a:rPr>
              <a:t>	</a:t>
            </a:r>
            <a:r>
              <a:rPr dirty="0" sz="3600" spc="-20">
                <a:solidFill>
                  <a:srgbClr val="FFFFFF"/>
                </a:solidFill>
                <a:latin typeface="Avenir Book"/>
                <a:cs typeface="Avenir Book"/>
              </a:rPr>
              <a:t>with</a:t>
            </a:r>
            <a:r>
              <a:rPr dirty="0" sz="3600">
                <a:solidFill>
                  <a:srgbClr val="FFFFFF"/>
                </a:solidFill>
                <a:latin typeface="Avenir Book"/>
                <a:cs typeface="Avenir Book"/>
              </a:rPr>
              <a:t>	</a:t>
            </a:r>
            <a:r>
              <a:rPr dirty="0" sz="3600" spc="-20">
                <a:solidFill>
                  <a:srgbClr val="FFFFFF"/>
                </a:solidFill>
                <a:latin typeface="Avenir Book"/>
                <a:cs typeface="Avenir Book"/>
              </a:rPr>
              <a:t>your</a:t>
            </a:r>
            <a:r>
              <a:rPr dirty="0" sz="3600">
                <a:solidFill>
                  <a:srgbClr val="FFFFFF"/>
                </a:solidFill>
                <a:latin typeface="Avenir Book"/>
                <a:cs typeface="Avenir Book"/>
              </a:rPr>
              <a:t>	</a:t>
            </a:r>
            <a:r>
              <a:rPr dirty="0" sz="3600" spc="-10">
                <a:solidFill>
                  <a:srgbClr val="FFFFFF"/>
                </a:solidFill>
                <a:latin typeface="Avenir Book"/>
                <a:cs typeface="Avenir Book"/>
              </a:rPr>
              <a:t>pitch</a:t>
            </a:r>
            <a:r>
              <a:rPr dirty="0" sz="3600">
                <a:solidFill>
                  <a:srgbClr val="FFFFFF"/>
                </a:solidFill>
                <a:latin typeface="Avenir Book"/>
                <a:cs typeface="Avenir Book"/>
              </a:rPr>
              <a:t>	</a:t>
            </a:r>
            <a:r>
              <a:rPr dirty="0" sz="3600" spc="-10">
                <a:solidFill>
                  <a:srgbClr val="FFFFFF"/>
                </a:solidFill>
                <a:latin typeface="Avenir Book"/>
                <a:cs typeface="Avenir Book"/>
              </a:rPr>
              <a:t>deck?</a:t>
            </a:r>
            <a:endParaRPr sz="3600">
              <a:latin typeface="Avenir Book"/>
              <a:cs typeface="Avenir Book"/>
            </a:endParaRPr>
          </a:p>
          <a:p>
            <a:pPr algn="ctr" marL="12065" marR="5080">
              <a:lnSpc>
                <a:spcPts val="3200"/>
              </a:lnSpc>
              <a:spcBef>
                <a:spcPts val="10"/>
              </a:spcBef>
            </a:pP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We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can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provide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feedback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on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your</a:t>
            </a:r>
            <a:r>
              <a:rPr dirty="0" sz="2600" spc="-35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existing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deck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or</a:t>
            </a:r>
            <a:r>
              <a:rPr dirty="0" sz="2600" spc="-4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venir Book"/>
                <a:cs typeface="Avenir Book"/>
              </a:rPr>
              <a:t>build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a</a:t>
            </a:r>
            <a:r>
              <a:rPr dirty="0" sz="2600" spc="-35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new</a:t>
            </a:r>
            <a:r>
              <a:rPr dirty="0" sz="2600" spc="-3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one</a:t>
            </a:r>
            <a:r>
              <a:rPr dirty="0" sz="2600" spc="-35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from</a:t>
            </a:r>
            <a:r>
              <a:rPr dirty="0" sz="2600" spc="-3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scratch.</a:t>
            </a:r>
            <a:r>
              <a:rPr dirty="0" sz="2600" spc="-3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Contact</a:t>
            </a:r>
            <a:r>
              <a:rPr dirty="0" sz="2600" spc="-35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us</a:t>
            </a:r>
            <a:r>
              <a:rPr dirty="0" sz="2600" spc="-3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via</a:t>
            </a:r>
            <a:r>
              <a:rPr dirty="0" sz="2600" spc="-30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>
                <a:solidFill>
                  <a:srgbClr val="FFFFFF"/>
                </a:solidFill>
                <a:latin typeface="Avenir Book"/>
                <a:cs typeface="Avenir Book"/>
              </a:rPr>
              <a:t>our</a:t>
            </a:r>
            <a:r>
              <a:rPr dirty="0" sz="2600" spc="-35">
                <a:solidFill>
                  <a:srgbClr val="FFFFFF"/>
                </a:solidFill>
                <a:latin typeface="Avenir Book"/>
                <a:cs typeface="Avenir Book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venir Book"/>
                <a:cs typeface="Avenir Book"/>
              </a:rPr>
              <a:t>website.</a:t>
            </a:r>
            <a:endParaRPr sz="2600">
              <a:latin typeface="Avenir Book"/>
              <a:cs typeface="Avenir Book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399981" y="2630514"/>
            <a:ext cx="2260600" cy="711200"/>
            <a:chOff x="3399981" y="2630514"/>
            <a:chExt cx="2260600" cy="7112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9981" y="2668614"/>
              <a:ext cx="2260600" cy="6096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46009" y="266861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0"/>
                  </a:moveTo>
                  <a:lnTo>
                    <a:pt x="634880" y="0"/>
                  </a:lnTo>
                  <a:lnTo>
                    <a:pt x="634880" y="634880"/>
                  </a:lnTo>
                  <a:lnTo>
                    <a:pt x="0" y="63488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EC2C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2025-06-12T00:40:03Z</dcterms:created>
  <dcterms:modified xsi:type="dcterms:W3CDTF">2025-06-12T00:40:03Z</dcterms:modified>
</cp:coreProperties>
</file>