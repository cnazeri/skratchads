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9575" y="1039668"/>
            <a:ext cx="774299" cy="1495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79368" y="603693"/>
            <a:ext cx="6334663" cy="742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5191" y="1778097"/>
            <a:ext cx="8677275" cy="3141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504748" y="6994458"/>
            <a:ext cx="234315" cy="2146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rgbClr val="888888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1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11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80768" y="602823"/>
            <a:ext cx="1791335" cy="977265"/>
          </a:xfrm>
          <a:custGeom>
            <a:avLst/>
            <a:gdLst/>
            <a:ahLst/>
            <a:cxnLst/>
            <a:rect l="l" t="t" r="r" b="b"/>
            <a:pathLst>
              <a:path w="1791335" h="977265">
                <a:moveTo>
                  <a:pt x="0" y="0"/>
                </a:moveTo>
                <a:lnTo>
                  <a:pt x="1791265" y="0"/>
                </a:lnTo>
                <a:lnTo>
                  <a:pt x="1791265" y="977053"/>
                </a:lnTo>
                <a:lnTo>
                  <a:pt x="0" y="9770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45763" y="5488962"/>
            <a:ext cx="5577840" cy="54673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400" spc="-10">
                <a:solidFill>
                  <a:srgbClr val="888888"/>
                </a:solidFill>
                <a:latin typeface="Trebuchet MS"/>
                <a:cs typeface="Trebuchet MS"/>
              </a:rPr>
              <a:t>Next-</a:t>
            </a:r>
            <a:r>
              <a:rPr dirty="0" sz="3400">
                <a:solidFill>
                  <a:srgbClr val="888888"/>
                </a:solidFill>
                <a:latin typeface="Trebuchet MS"/>
                <a:cs typeface="Trebuchet MS"/>
              </a:rPr>
              <a:t>Generation</a:t>
            </a:r>
            <a:r>
              <a:rPr dirty="0" sz="3400" spc="10">
                <a:solidFill>
                  <a:srgbClr val="888888"/>
                </a:solidFill>
                <a:latin typeface="Trebuchet MS"/>
                <a:cs typeface="Trebuchet MS"/>
              </a:rPr>
              <a:t> </a:t>
            </a:r>
            <a:r>
              <a:rPr dirty="0" sz="3400">
                <a:solidFill>
                  <a:srgbClr val="888888"/>
                </a:solidFill>
                <a:latin typeface="Trebuchet MS"/>
                <a:cs typeface="Trebuchet MS"/>
              </a:rPr>
              <a:t>Car</a:t>
            </a:r>
            <a:r>
              <a:rPr dirty="0" sz="3400" spc="25">
                <a:solidFill>
                  <a:srgbClr val="888888"/>
                </a:solidFill>
                <a:latin typeface="Trebuchet MS"/>
                <a:cs typeface="Trebuchet MS"/>
              </a:rPr>
              <a:t> </a:t>
            </a:r>
            <a:r>
              <a:rPr dirty="0" sz="3400" spc="-10">
                <a:solidFill>
                  <a:srgbClr val="888888"/>
                </a:solidFill>
                <a:latin typeface="Trebuchet MS"/>
                <a:cs typeface="Trebuchet MS"/>
              </a:rPr>
              <a:t>Service</a:t>
            </a:r>
            <a:endParaRPr sz="3400">
              <a:latin typeface="Trebuchet MS"/>
              <a:cs typeface="Trebuchet MS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7822" y="3295611"/>
            <a:ext cx="651369" cy="113519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1513" y="3398283"/>
            <a:ext cx="651369" cy="123488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70358" y="3110383"/>
            <a:ext cx="4139986" cy="1514938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78245" y="1613369"/>
            <a:ext cx="1626028" cy="309804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96365">
              <a:lnSpc>
                <a:spcPct val="100000"/>
              </a:lnSpc>
              <a:spcBef>
                <a:spcPts val="100"/>
              </a:spcBef>
            </a:pPr>
            <a:r>
              <a:rPr dirty="0"/>
              <a:t>Cabs</a:t>
            </a:r>
            <a:r>
              <a:rPr dirty="0" spc="-25"/>
              <a:t> </a:t>
            </a:r>
            <a:r>
              <a:rPr dirty="0"/>
              <a:t>in</a:t>
            </a:r>
            <a:r>
              <a:rPr dirty="0" spc="-20"/>
              <a:t> 2008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85191" y="1753316"/>
            <a:ext cx="7938134" cy="2944495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800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Most</a:t>
            </a:r>
            <a:r>
              <a:rPr dirty="0" sz="2750" spc="3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use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aging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&amp;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inefficient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technology</a:t>
            </a:r>
            <a:endParaRPr sz="2750">
              <a:latin typeface="Arial"/>
              <a:cs typeface="Arial"/>
            </a:endParaRPr>
          </a:p>
          <a:p>
            <a:pPr lvl="1" marL="935355" indent="-434340">
              <a:lnSpc>
                <a:spcPct val="100000"/>
              </a:lnSpc>
              <a:spcBef>
                <a:spcPts val="640"/>
              </a:spcBef>
              <a:buChar char="–"/>
              <a:tabLst>
                <a:tab pos="935355" algn="l"/>
              </a:tabLst>
            </a:pPr>
            <a:r>
              <a:rPr dirty="0" sz="2550">
                <a:latin typeface="Arial"/>
                <a:cs typeface="Arial"/>
              </a:rPr>
              <a:t>Radio dispatch,</a:t>
            </a:r>
            <a:r>
              <a:rPr dirty="0" sz="2550" spc="-1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no</a:t>
            </a:r>
            <a:r>
              <a:rPr dirty="0" sz="2550" spc="5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2-</a:t>
            </a:r>
            <a:r>
              <a:rPr dirty="0" sz="2550">
                <a:latin typeface="Arial"/>
                <a:cs typeface="Arial"/>
              </a:rPr>
              <a:t>way</a:t>
            </a:r>
            <a:r>
              <a:rPr dirty="0" sz="2550" spc="-5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communication</a:t>
            </a:r>
            <a:endParaRPr sz="2550">
              <a:latin typeface="Arial"/>
              <a:cs typeface="Arial"/>
            </a:endParaRPr>
          </a:p>
          <a:p>
            <a:pPr lvl="1" marL="935355" indent="-434340">
              <a:lnSpc>
                <a:spcPct val="100000"/>
              </a:lnSpc>
              <a:spcBef>
                <a:spcPts val="680"/>
              </a:spcBef>
              <a:buChar char="–"/>
              <a:tabLst>
                <a:tab pos="935355" algn="l"/>
              </a:tabLst>
            </a:pPr>
            <a:r>
              <a:rPr dirty="0" sz="2550">
                <a:latin typeface="Arial"/>
                <a:cs typeface="Arial"/>
              </a:rPr>
              <a:t>Most</a:t>
            </a:r>
            <a:r>
              <a:rPr dirty="0" sz="2550" spc="-3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common</a:t>
            </a:r>
            <a:r>
              <a:rPr dirty="0" sz="2550" spc="-3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car,</a:t>
            </a:r>
            <a:r>
              <a:rPr dirty="0" sz="2550" spc="-4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Ford</a:t>
            </a:r>
            <a:r>
              <a:rPr dirty="0" sz="2550" spc="-3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Crown</a:t>
            </a:r>
            <a:r>
              <a:rPr dirty="0" sz="2550" spc="-3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Victoria</a:t>
            </a:r>
            <a:r>
              <a:rPr dirty="0" sz="2550" spc="-3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=</a:t>
            </a:r>
            <a:r>
              <a:rPr dirty="0" sz="2550" spc="-35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14mpg</a:t>
            </a:r>
            <a:endParaRPr sz="25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800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Hailing</a:t>
            </a:r>
            <a:r>
              <a:rPr dirty="0" sz="2750" spc="3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is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done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by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hand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or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phone</a:t>
            </a:r>
            <a:endParaRPr sz="2750">
              <a:latin typeface="Arial"/>
              <a:cs typeface="Arial"/>
            </a:endParaRPr>
          </a:p>
          <a:p>
            <a:pPr lvl="1" marL="935355" indent="-434340">
              <a:lnSpc>
                <a:spcPct val="100000"/>
              </a:lnSpc>
              <a:spcBef>
                <a:spcPts val="745"/>
              </a:spcBef>
              <a:buChar char="–"/>
              <a:tabLst>
                <a:tab pos="935355" algn="l"/>
              </a:tabLst>
            </a:pPr>
            <a:r>
              <a:rPr dirty="0" sz="2550">
                <a:latin typeface="Arial"/>
                <a:cs typeface="Arial"/>
              </a:rPr>
              <a:t>No</a:t>
            </a:r>
            <a:r>
              <a:rPr dirty="0" sz="2550" spc="-10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GPS</a:t>
            </a:r>
            <a:r>
              <a:rPr dirty="0" sz="2550" spc="-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coordination</a:t>
            </a:r>
            <a:r>
              <a:rPr dirty="0" sz="2550" spc="-10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between</a:t>
            </a:r>
            <a:r>
              <a:rPr dirty="0" sz="2550" spc="-5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client/driver</a:t>
            </a:r>
            <a:endParaRPr sz="2550">
              <a:latin typeface="Arial"/>
              <a:cs typeface="Arial"/>
            </a:endParaRPr>
          </a:p>
          <a:p>
            <a:pPr lvl="1" marL="935355" indent="-434340">
              <a:lnSpc>
                <a:spcPct val="100000"/>
              </a:lnSpc>
              <a:spcBef>
                <a:spcPts val="575"/>
              </a:spcBef>
              <a:buChar char="–"/>
              <a:tabLst>
                <a:tab pos="935355" algn="l"/>
              </a:tabLst>
            </a:pPr>
            <a:r>
              <a:rPr dirty="0" sz="2550">
                <a:latin typeface="Arial"/>
                <a:cs typeface="Arial"/>
              </a:rPr>
              <a:t>Significant</a:t>
            </a:r>
            <a:r>
              <a:rPr dirty="0" sz="2550" spc="-20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fareseeking</a:t>
            </a:r>
            <a:r>
              <a:rPr dirty="0" sz="2550" spc="10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or</a:t>
            </a:r>
            <a:r>
              <a:rPr dirty="0" sz="2550" spc="5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“dead-time”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6244" y="5067416"/>
            <a:ext cx="3989636" cy="1736984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02565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40"/>
              <a:t> </a:t>
            </a:r>
            <a:r>
              <a:rPr dirty="0"/>
              <a:t>Medallion</a:t>
            </a:r>
            <a:r>
              <a:rPr dirty="0" spc="-35"/>
              <a:t> </a:t>
            </a:r>
            <a:r>
              <a:rPr dirty="0" spc="-10"/>
              <a:t>System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85191" y="1827182"/>
            <a:ext cx="7525384" cy="84581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65125" indent="-352425">
              <a:lnSpc>
                <a:spcPts val="3515"/>
              </a:lnSpc>
              <a:spcBef>
                <a:spcPts val="125"/>
              </a:spcBef>
              <a:buChar char="•"/>
              <a:tabLst>
                <a:tab pos="365125" algn="l"/>
              </a:tabLst>
            </a:pPr>
            <a:r>
              <a:rPr dirty="0" sz="2950" spc="-70">
                <a:latin typeface="Arial"/>
                <a:cs typeface="Arial"/>
              </a:rPr>
              <a:t>Taxi-</a:t>
            </a:r>
            <a:r>
              <a:rPr dirty="0" sz="2950">
                <a:latin typeface="Arial"/>
                <a:cs typeface="Arial"/>
              </a:rPr>
              <a:t>monopolies</a:t>
            </a:r>
            <a:r>
              <a:rPr dirty="0" sz="2950" spc="5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reduce</a:t>
            </a:r>
            <a:r>
              <a:rPr dirty="0" sz="2950" spc="60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quality</a:t>
            </a:r>
            <a:r>
              <a:rPr dirty="0" sz="2950" spc="6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of</a:t>
            </a:r>
            <a:r>
              <a:rPr dirty="0" sz="2950" spc="65">
                <a:latin typeface="Arial"/>
                <a:cs typeface="Arial"/>
              </a:rPr>
              <a:t> </a:t>
            </a:r>
            <a:r>
              <a:rPr dirty="0" sz="2950" spc="-10">
                <a:latin typeface="Arial"/>
                <a:cs typeface="Arial"/>
              </a:rPr>
              <a:t>service</a:t>
            </a:r>
            <a:endParaRPr sz="2950">
              <a:latin typeface="Arial"/>
              <a:cs typeface="Arial"/>
            </a:endParaRPr>
          </a:p>
          <a:p>
            <a:pPr marL="501015">
              <a:lnSpc>
                <a:spcPts val="2915"/>
              </a:lnSpc>
            </a:pPr>
            <a:r>
              <a:rPr dirty="0" sz="2450">
                <a:latin typeface="Arial"/>
                <a:cs typeface="Arial"/>
              </a:rPr>
              <a:t>–</a:t>
            </a:r>
            <a:r>
              <a:rPr dirty="0" sz="2450" spc="180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Medallions</a:t>
            </a:r>
            <a:r>
              <a:rPr dirty="0" sz="2450" spc="-10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are</a:t>
            </a:r>
            <a:r>
              <a:rPr dirty="0" sz="2450" spc="-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expensive,</a:t>
            </a:r>
            <a:r>
              <a:rPr dirty="0" sz="2450" spc="-10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and</a:t>
            </a:r>
            <a:r>
              <a:rPr dirty="0" sz="2450" spc="-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drivers</a:t>
            </a:r>
            <a:r>
              <a:rPr dirty="0" sz="2450" spc="-5">
                <a:latin typeface="Arial"/>
                <a:cs typeface="Arial"/>
              </a:rPr>
              <a:t> </a:t>
            </a:r>
            <a:r>
              <a:rPr dirty="0" sz="2450" spc="-10">
                <a:latin typeface="Arial"/>
                <a:cs typeface="Arial"/>
              </a:rPr>
              <a:t>underpaid</a:t>
            </a:r>
            <a:endParaRPr sz="24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85191" y="4877761"/>
            <a:ext cx="8714740" cy="16078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784225" indent="-283210">
              <a:lnSpc>
                <a:spcPct val="100000"/>
              </a:lnSpc>
              <a:spcBef>
                <a:spcPts val="110"/>
              </a:spcBef>
              <a:buChar char="–"/>
              <a:tabLst>
                <a:tab pos="784225" algn="l"/>
              </a:tabLst>
            </a:pPr>
            <a:r>
              <a:rPr dirty="0" sz="2450">
                <a:latin typeface="Arial"/>
                <a:cs typeface="Arial"/>
              </a:rPr>
              <a:t>Medallions</a:t>
            </a:r>
            <a:r>
              <a:rPr dirty="0" sz="2450" spc="-1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cost</a:t>
            </a:r>
            <a:r>
              <a:rPr dirty="0" sz="2450" spc="-10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~$500k,</a:t>
            </a:r>
            <a:r>
              <a:rPr dirty="0" sz="2450" spc="-10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drivers</a:t>
            </a:r>
            <a:r>
              <a:rPr dirty="0" sz="2450" spc="-10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make</a:t>
            </a:r>
            <a:r>
              <a:rPr dirty="0" sz="2450" spc="-10">
                <a:latin typeface="Arial"/>
                <a:cs typeface="Arial"/>
              </a:rPr>
              <a:t> </a:t>
            </a:r>
            <a:r>
              <a:rPr dirty="0" sz="2450" spc="-25">
                <a:latin typeface="Arial"/>
                <a:cs typeface="Arial"/>
              </a:rPr>
              <a:t>31k</a:t>
            </a:r>
            <a:endParaRPr sz="2450">
              <a:latin typeface="Arial"/>
              <a:cs typeface="Arial"/>
            </a:endParaRPr>
          </a:p>
          <a:p>
            <a:pPr marL="784225" indent="-283210">
              <a:lnSpc>
                <a:spcPct val="100000"/>
              </a:lnSpc>
              <a:spcBef>
                <a:spcPts val="50"/>
              </a:spcBef>
              <a:buChar char="–"/>
              <a:tabLst>
                <a:tab pos="784225" algn="l"/>
              </a:tabLst>
            </a:pPr>
            <a:r>
              <a:rPr dirty="0" sz="2450">
                <a:latin typeface="Arial"/>
                <a:cs typeface="Arial"/>
              </a:rPr>
              <a:t>No</a:t>
            </a:r>
            <a:r>
              <a:rPr dirty="0" sz="2450" spc="-1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incentive/accountability</a:t>
            </a:r>
            <a:r>
              <a:rPr dirty="0" sz="2450" spc="-15">
                <a:latin typeface="Arial"/>
                <a:cs typeface="Arial"/>
              </a:rPr>
              <a:t> </a:t>
            </a:r>
            <a:r>
              <a:rPr dirty="0" sz="2450">
                <a:latin typeface="Arial"/>
                <a:cs typeface="Arial"/>
              </a:rPr>
              <a:t>for</a:t>
            </a:r>
            <a:r>
              <a:rPr dirty="0" sz="2450" spc="-10">
                <a:latin typeface="Arial"/>
                <a:cs typeface="Arial"/>
              </a:rPr>
              <a:t> drivers/clients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2450">
              <a:latin typeface="Arial"/>
              <a:cs typeface="Arial"/>
            </a:endParaRPr>
          </a:p>
          <a:p>
            <a:pPr marL="365125" indent="-352425">
              <a:lnSpc>
                <a:spcPct val="100000"/>
              </a:lnSpc>
              <a:buChar char="•"/>
              <a:tabLst>
                <a:tab pos="365125" algn="l"/>
              </a:tabLst>
            </a:pPr>
            <a:r>
              <a:rPr dirty="0" sz="2950">
                <a:solidFill>
                  <a:srgbClr val="008000"/>
                </a:solidFill>
                <a:latin typeface="Arial"/>
                <a:cs typeface="Arial"/>
              </a:rPr>
              <a:t>Digital</a:t>
            </a:r>
            <a:r>
              <a:rPr dirty="0" sz="2950" spc="3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950">
                <a:solidFill>
                  <a:srgbClr val="008000"/>
                </a:solidFill>
                <a:latin typeface="Arial"/>
                <a:cs typeface="Arial"/>
              </a:rPr>
              <a:t>Hail</a:t>
            </a:r>
            <a:r>
              <a:rPr dirty="0" sz="2950" spc="4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950">
                <a:solidFill>
                  <a:srgbClr val="008000"/>
                </a:solidFill>
                <a:latin typeface="Arial"/>
                <a:cs typeface="Arial"/>
              </a:rPr>
              <a:t>can</a:t>
            </a:r>
            <a:r>
              <a:rPr dirty="0" sz="2950" spc="3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950">
                <a:solidFill>
                  <a:srgbClr val="008000"/>
                </a:solidFill>
                <a:latin typeface="Arial"/>
                <a:cs typeface="Arial"/>
              </a:rPr>
              <a:t>now</a:t>
            </a:r>
            <a:r>
              <a:rPr dirty="0" sz="2950" spc="4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950">
                <a:solidFill>
                  <a:srgbClr val="008000"/>
                </a:solidFill>
                <a:latin typeface="Arial"/>
                <a:cs typeface="Arial"/>
              </a:rPr>
              <a:t>make</a:t>
            </a:r>
            <a:r>
              <a:rPr dirty="0" sz="2950" spc="3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950">
                <a:solidFill>
                  <a:srgbClr val="008000"/>
                </a:solidFill>
                <a:latin typeface="Arial"/>
                <a:cs typeface="Arial"/>
              </a:rPr>
              <a:t>street</a:t>
            </a:r>
            <a:r>
              <a:rPr dirty="0" sz="2950" spc="4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950">
                <a:solidFill>
                  <a:srgbClr val="008000"/>
                </a:solidFill>
                <a:latin typeface="Arial"/>
                <a:cs typeface="Arial"/>
              </a:rPr>
              <a:t>hail</a:t>
            </a:r>
            <a:r>
              <a:rPr dirty="0" sz="2950" spc="3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950" spc="-10">
                <a:solidFill>
                  <a:srgbClr val="008000"/>
                </a:solidFill>
                <a:latin typeface="Arial"/>
                <a:cs typeface="Arial"/>
              </a:rPr>
              <a:t>unnecessary</a:t>
            </a:r>
            <a:endParaRPr sz="295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0456" y="2828334"/>
            <a:ext cx="2029025" cy="1913397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72160">
              <a:lnSpc>
                <a:spcPct val="100000"/>
              </a:lnSpc>
              <a:spcBef>
                <a:spcPts val="100"/>
              </a:spcBef>
            </a:pPr>
            <a:r>
              <a:rPr dirty="0"/>
              <a:t>UberCab</a:t>
            </a:r>
            <a:r>
              <a:rPr dirty="0" spc="-90"/>
              <a:t> </a:t>
            </a:r>
            <a:r>
              <a:rPr dirty="0" spc="-10"/>
              <a:t>Concept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85191" y="1732734"/>
            <a:ext cx="7835265" cy="4123690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960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A</a:t>
            </a:r>
            <a:r>
              <a:rPr dirty="0" sz="2750" spc="-13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fast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&amp;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efficient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on-demand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car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service</a:t>
            </a:r>
            <a:endParaRPr sz="27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865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Market:</a:t>
            </a:r>
            <a:r>
              <a:rPr dirty="0" sz="2750" spc="7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Professionals</a:t>
            </a:r>
            <a:r>
              <a:rPr dirty="0" sz="2750" spc="8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in</a:t>
            </a:r>
            <a:r>
              <a:rPr dirty="0" sz="2750" spc="-9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American</a:t>
            </a:r>
            <a:r>
              <a:rPr dirty="0" sz="2750" spc="8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cities</a:t>
            </a:r>
            <a:endParaRPr sz="2750">
              <a:latin typeface="Arial"/>
              <a:cs typeface="Arial"/>
            </a:endParaRPr>
          </a:p>
          <a:p>
            <a:pPr marL="378460" marR="5080" indent="-366395">
              <a:lnSpc>
                <a:spcPct val="100400"/>
              </a:lnSpc>
              <a:spcBef>
                <a:spcPts val="855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Convenience</a:t>
            </a:r>
            <a:r>
              <a:rPr dirty="0" sz="2750" spc="3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of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a</a:t>
            </a:r>
            <a:r>
              <a:rPr dirty="0" sz="2750" spc="5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cab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in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NYC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+</a:t>
            </a:r>
            <a:r>
              <a:rPr dirty="0" sz="2750" spc="5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experience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of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 spc="-50">
                <a:latin typeface="Arial"/>
                <a:cs typeface="Arial"/>
              </a:rPr>
              <a:t>a </a:t>
            </a:r>
            <a:r>
              <a:rPr dirty="0" sz="2750">
                <a:latin typeface="Arial"/>
                <a:cs typeface="Arial"/>
              </a:rPr>
              <a:t>professional</a:t>
            </a:r>
            <a:r>
              <a:rPr dirty="0" sz="2750" spc="1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chauffeur.</a:t>
            </a:r>
            <a:r>
              <a:rPr dirty="0" sz="2750" spc="2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But</a:t>
            </a:r>
            <a:r>
              <a:rPr dirty="0" sz="2750" spc="2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in</a:t>
            </a:r>
            <a:r>
              <a:rPr dirty="0" sz="2750" spc="2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SF</a:t>
            </a:r>
            <a:r>
              <a:rPr dirty="0" sz="2750" spc="2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and</a:t>
            </a:r>
            <a:r>
              <a:rPr dirty="0" sz="2750" spc="30">
                <a:latin typeface="Arial"/>
                <a:cs typeface="Arial"/>
              </a:rPr>
              <a:t> </a:t>
            </a:r>
            <a:r>
              <a:rPr dirty="0" sz="2750" spc="-25">
                <a:latin typeface="Arial"/>
                <a:cs typeface="Arial"/>
              </a:rPr>
              <a:t>NYC</a:t>
            </a:r>
            <a:endParaRPr sz="27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760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Latest</a:t>
            </a:r>
            <a:r>
              <a:rPr dirty="0" sz="2750" spc="5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consumer</a:t>
            </a:r>
            <a:r>
              <a:rPr dirty="0" sz="2750" spc="5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web</a:t>
            </a:r>
            <a:r>
              <a:rPr dirty="0" sz="2750" spc="6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&amp;</a:t>
            </a:r>
            <a:r>
              <a:rPr dirty="0" sz="2750" spc="5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device</a:t>
            </a:r>
            <a:r>
              <a:rPr dirty="0" sz="2750" spc="5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technology</a:t>
            </a:r>
            <a:endParaRPr sz="2750">
              <a:latin typeface="Arial"/>
              <a:cs typeface="Arial"/>
            </a:endParaRPr>
          </a:p>
          <a:p>
            <a:pPr marL="501015">
              <a:lnSpc>
                <a:spcPct val="100000"/>
              </a:lnSpc>
              <a:spcBef>
                <a:spcPts val="620"/>
              </a:spcBef>
              <a:tabLst>
                <a:tab pos="935355" algn="l"/>
              </a:tabLst>
            </a:pPr>
            <a:r>
              <a:rPr dirty="0" sz="3000" spc="-50">
                <a:latin typeface="Arial"/>
                <a:cs typeface="Arial"/>
              </a:rPr>
              <a:t>–</a:t>
            </a:r>
            <a:r>
              <a:rPr dirty="0" sz="3000">
                <a:latin typeface="Arial"/>
                <a:cs typeface="Arial"/>
              </a:rPr>
              <a:t>	automate</a:t>
            </a:r>
            <a:r>
              <a:rPr dirty="0" sz="3000" spc="-6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dispatch</a:t>
            </a:r>
            <a:r>
              <a:rPr dirty="0" sz="3000" spc="-6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to</a:t>
            </a:r>
            <a:r>
              <a:rPr dirty="0" sz="3000" spc="-6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reduce</a:t>
            </a:r>
            <a:r>
              <a:rPr dirty="0" sz="3000" spc="-65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wait-</a:t>
            </a:r>
            <a:r>
              <a:rPr dirty="0" sz="3000" spc="-20">
                <a:latin typeface="Arial"/>
                <a:cs typeface="Arial"/>
              </a:rPr>
              <a:t>time</a:t>
            </a:r>
            <a:endParaRPr sz="300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815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Optimized</a:t>
            </a:r>
            <a:r>
              <a:rPr dirty="0" sz="2750" spc="7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fleets</a:t>
            </a:r>
            <a:r>
              <a:rPr dirty="0" sz="2750" spc="7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and</a:t>
            </a:r>
            <a:r>
              <a:rPr dirty="0" sz="2750" spc="7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incented</a:t>
            </a:r>
            <a:r>
              <a:rPr dirty="0" sz="2750" spc="7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drivers</a:t>
            </a:r>
            <a:endParaRPr sz="27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760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The</a:t>
            </a:r>
            <a:r>
              <a:rPr dirty="0" sz="2750" spc="5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“NetJets</a:t>
            </a:r>
            <a:r>
              <a:rPr dirty="0" sz="2750" spc="5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of</a:t>
            </a:r>
            <a:r>
              <a:rPr dirty="0" sz="2750" spc="5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car</a:t>
            </a:r>
            <a:r>
              <a:rPr dirty="0" sz="2750" spc="50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services”</a:t>
            </a:r>
            <a:endParaRPr sz="2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096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1-</a:t>
            </a:r>
            <a:r>
              <a:rPr dirty="0"/>
              <a:t>Click</a:t>
            </a:r>
            <a:r>
              <a:rPr dirty="0" spc="-40"/>
              <a:t> </a:t>
            </a:r>
            <a:r>
              <a:rPr dirty="0"/>
              <a:t>Car</a:t>
            </a:r>
            <a:r>
              <a:rPr dirty="0" spc="-35"/>
              <a:t> </a:t>
            </a:r>
            <a:r>
              <a:rPr dirty="0" spc="-10"/>
              <a:t>Service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85191" y="1778097"/>
            <a:ext cx="8571865" cy="4097654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605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Must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be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a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member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to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use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the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service</a:t>
            </a:r>
            <a:endParaRPr sz="2750">
              <a:latin typeface="Arial"/>
              <a:cs typeface="Arial"/>
            </a:endParaRPr>
          </a:p>
          <a:p>
            <a:pPr lvl="1" marL="935355" indent="-434340">
              <a:lnSpc>
                <a:spcPct val="100000"/>
              </a:lnSpc>
              <a:spcBef>
                <a:spcPts val="509"/>
              </a:spcBef>
              <a:buChar char="–"/>
              <a:tabLst>
                <a:tab pos="935355" algn="l"/>
              </a:tabLst>
            </a:pPr>
            <a:r>
              <a:rPr dirty="0" sz="3000">
                <a:latin typeface="Arial"/>
                <a:cs typeface="Arial"/>
              </a:rPr>
              <a:t>Professional</a:t>
            </a:r>
            <a:r>
              <a:rPr dirty="0" sz="3000" spc="-10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and</a:t>
            </a:r>
            <a:r>
              <a:rPr dirty="0" sz="3000" spc="-9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trustworthly</a:t>
            </a:r>
            <a:r>
              <a:rPr dirty="0" sz="3000" spc="-85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clientele</a:t>
            </a:r>
            <a:endParaRPr sz="300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919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Not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hailed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from</a:t>
            </a:r>
            <a:r>
              <a:rPr dirty="0" sz="2750" spc="50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street</a:t>
            </a:r>
            <a:endParaRPr sz="2750">
              <a:latin typeface="Arial"/>
              <a:cs typeface="Arial"/>
            </a:endParaRPr>
          </a:p>
          <a:p>
            <a:pPr lvl="1" marL="935355" marR="5080" indent="-434340">
              <a:lnSpc>
                <a:spcPts val="3420"/>
              </a:lnSpc>
              <a:spcBef>
                <a:spcPts val="775"/>
              </a:spcBef>
              <a:buChar char="–"/>
              <a:tabLst>
                <a:tab pos="935355" algn="l"/>
              </a:tabLst>
            </a:pPr>
            <a:r>
              <a:rPr dirty="0" sz="3000">
                <a:latin typeface="Arial"/>
                <a:cs typeface="Arial"/>
              </a:rPr>
              <a:t>So</a:t>
            </a:r>
            <a:r>
              <a:rPr dirty="0" sz="3000" spc="-5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no</a:t>
            </a:r>
            <a:r>
              <a:rPr dirty="0" sz="3000" spc="-5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medallion</a:t>
            </a:r>
            <a:r>
              <a:rPr dirty="0" sz="3000" spc="-5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licenses</a:t>
            </a:r>
            <a:r>
              <a:rPr dirty="0" sz="3000" spc="-5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are</a:t>
            </a:r>
            <a:r>
              <a:rPr dirty="0" sz="3000" spc="-5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required,</a:t>
            </a:r>
            <a:r>
              <a:rPr dirty="0" sz="3000" spc="-50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since </a:t>
            </a:r>
            <a:r>
              <a:rPr dirty="0" sz="3000">
                <a:latin typeface="Arial"/>
                <a:cs typeface="Arial"/>
              </a:rPr>
              <a:t>clients</a:t>
            </a:r>
            <a:r>
              <a:rPr dirty="0" sz="3000" spc="-6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are</a:t>
            </a:r>
            <a:r>
              <a:rPr dirty="0" sz="3000" spc="-6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service</a:t>
            </a:r>
            <a:r>
              <a:rPr dirty="0" sz="3000" spc="-6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members</a:t>
            </a:r>
            <a:r>
              <a:rPr dirty="0" sz="3000" spc="-6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&amp;</a:t>
            </a:r>
            <a:r>
              <a:rPr dirty="0" sz="3000" spc="-6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use</a:t>
            </a:r>
            <a:r>
              <a:rPr dirty="0" sz="3000" spc="-55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digital-</a:t>
            </a:r>
            <a:r>
              <a:rPr dirty="0" sz="3000" spc="-20">
                <a:latin typeface="Arial"/>
                <a:cs typeface="Arial"/>
              </a:rPr>
              <a:t>hail</a:t>
            </a:r>
            <a:endParaRPr sz="300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735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Guaranteed</a:t>
            </a:r>
            <a:r>
              <a:rPr dirty="0" sz="2750" spc="7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Pick-up</a:t>
            </a:r>
            <a:r>
              <a:rPr dirty="0" sz="2750" spc="6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(unlike</a:t>
            </a:r>
            <a:r>
              <a:rPr dirty="0" sz="2750" spc="7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a</a:t>
            </a:r>
            <a:r>
              <a:rPr dirty="0" sz="2750" spc="6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yellowcab)</a:t>
            </a:r>
            <a:endParaRPr sz="2750">
              <a:latin typeface="Arial"/>
              <a:cs typeface="Arial"/>
            </a:endParaRPr>
          </a:p>
          <a:p>
            <a:pPr lvl="1" marL="935355" indent="-434340">
              <a:lnSpc>
                <a:spcPct val="100000"/>
              </a:lnSpc>
              <a:spcBef>
                <a:spcPts val="509"/>
              </a:spcBef>
              <a:buChar char="–"/>
              <a:tabLst>
                <a:tab pos="935355" algn="l"/>
              </a:tabLst>
            </a:pPr>
            <a:r>
              <a:rPr dirty="0" sz="3000">
                <a:latin typeface="Arial"/>
                <a:cs typeface="Arial"/>
              </a:rPr>
              <a:t>Mobile</a:t>
            </a:r>
            <a:r>
              <a:rPr dirty="0" sz="3000" spc="-4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app</a:t>
            </a:r>
            <a:r>
              <a:rPr dirty="0" sz="3000" spc="-4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will</a:t>
            </a:r>
            <a:r>
              <a:rPr dirty="0" sz="3000" spc="-4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match</a:t>
            </a:r>
            <a:r>
              <a:rPr dirty="0" sz="3000" spc="-4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client</a:t>
            </a:r>
            <a:r>
              <a:rPr dirty="0" sz="3000" spc="-4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&amp;</a:t>
            </a:r>
            <a:r>
              <a:rPr dirty="0" sz="3000" spc="-40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driver</a:t>
            </a:r>
            <a:endParaRPr sz="3000">
              <a:latin typeface="Arial"/>
              <a:cs typeface="Arial"/>
            </a:endParaRPr>
          </a:p>
          <a:p>
            <a:pPr lvl="1" marL="935355" indent="-434340">
              <a:lnSpc>
                <a:spcPct val="100000"/>
              </a:lnSpc>
              <a:spcBef>
                <a:spcPts val="565"/>
              </a:spcBef>
              <a:buChar char="–"/>
              <a:tabLst>
                <a:tab pos="935355" algn="l"/>
              </a:tabLst>
            </a:pPr>
            <a:r>
              <a:rPr dirty="0" sz="3000">
                <a:latin typeface="Arial"/>
                <a:cs typeface="Arial"/>
              </a:rPr>
              <a:t>See</a:t>
            </a:r>
            <a:r>
              <a:rPr dirty="0" sz="3000" spc="-4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photos</a:t>
            </a:r>
            <a:r>
              <a:rPr dirty="0" sz="3000" spc="-3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of</a:t>
            </a:r>
            <a:r>
              <a:rPr dirty="0" sz="3000" spc="-3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each</a:t>
            </a:r>
            <a:r>
              <a:rPr dirty="0" sz="3000" spc="-30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other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04215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dirty="0" spc="-15"/>
              <a:t> </a:t>
            </a:r>
            <a:r>
              <a:rPr dirty="0" spc="-10"/>
              <a:t>Differentiators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85191" y="1732734"/>
            <a:ext cx="7373620" cy="3703320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960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Members</a:t>
            </a:r>
            <a:r>
              <a:rPr dirty="0" sz="2750" spc="7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Only</a:t>
            </a:r>
            <a:r>
              <a:rPr dirty="0" sz="2750" spc="75"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dirty="0" sz="2750" spc="7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595959"/>
                </a:solidFill>
                <a:latin typeface="Arial"/>
                <a:cs typeface="Arial"/>
              </a:rPr>
              <a:t>Respectable</a:t>
            </a:r>
            <a:r>
              <a:rPr dirty="0" sz="2750" spc="7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750" spc="-10">
                <a:solidFill>
                  <a:srgbClr val="595959"/>
                </a:solidFill>
                <a:latin typeface="Arial"/>
                <a:cs typeface="Arial"/>
              </a:rPr>
              <a:t>clientele</a:t>
            </a:r>
            <a:endParaRPr sz="27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865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1-click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hailing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dirty="0" sz="2750" spc="4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595959"/>
                </a:solidFill>
                <a:latin typeface="Arial"/>
                <a:cs typeface="Arial"/>
              </a:rPr>
              <a:t>“Pickup</a:t>
            </a:r>
            <a:r>
              <a:rPr dirty="0" sz="2750" spc="4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595959"/>
                </a:solidFill>
                <a:latin typeface="Arial"/>
                <a:cs typeface="Arial"/>
              </a:rPr>
              <a:t>here</a:t>
            </a:r>
            <a:r>
              <a:rPr dirty="0" sz="2750" spc="4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dirty="0" sz="2750" spc="4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595959"/>
                </a:solidFill>
                <a:latin typeface="Arial"/>
                <a:cs typeface="Arial"/>
              </a:rPr>
              <a:t>5</a:t>
            </a:r>
            <a:r>
              <a:rPr dirty="0" sz="2750" spc="4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750" spc="-10">
                <a:solidFill>
                  <a:srgbClr val="595959"/>
                </a:solidFill>
                <a:latin typeface="Arial"/>
                <a:cs typeface="Arial"/>
              </a:rPr>
              <a:t>mins”</a:t>
            </a:r>
            <a:endParaRPr sz="27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869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Fast</a:t>
            </a:r>
            <a:r>
              <a:rPr dirty="0" sz="2750" spc="5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Response</a:t>
            </a:r>
            <a:r>
              <a:rPr dirty="0" sz="2750" spc="5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time</a:t>
            </a:r>
            <a:r>
              <a:rPr dirty="0" sz="2750" spc="55"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dirty="0" sz="2750" spc="5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595959"/>
                </a:solidFill>
                <a:latin typeface="Arial"/>
                <a:cs typeface="Arial"/>
              </a:rPr>
              <a:t>easier</a:t>
            </a:r>
            <a:r>
              <a:rPr dirty="0" sz="2750" spc="5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595959"/>
                </a:solidFill>
                <a:latin typeface="Arial"/>
                <a:cs typeface="Arial"/>
              </a:rPr>
              <a:t>than</a:t>
            </a:r>
            <a:r>
              <a:rPr dirty="0" sz="2750" spc="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750" spc="-10">
                <a:solidFill>
                  <a:srgbClr val="595959"/>
                </a:solidFill>
                <a:latin typeface="Arial"/>
                <a:cs typeface="Arial"/>
              </a:rPr>
              <a:t>calling</a:t>
            </a:r>
            <a:endParaRPr sz="27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760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Luxury</a:t>
            </a:r>
            <a:r>
              <a:rPr dirty="0" sz="2750" spc="7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automobiles</a:t>
            </a:r>
            <a:r>
              <a:rPr dirty="0" sz="2750" spc="85"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dirty="0" sz="2750" spc="9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595959"/>
                </a:solidFill>
                <a:latin typeface="Arial"/>
                <a:cs typeface="Arial"/>
              </a:rPr>
              <a:t>Mercedes</a:t>
            </a:r>
            <a:r>
              <a:rPr dirty="0" sz="2750" spc="8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750" spc="-10">
                <a:solidFill>
                  <a:srgbClr val="595959"/>
                </a:solidFill>
                <a:latin typeface="Arial"/>
                <a:cs typeface="Arial"/>
              </a:rPr>
              <a:t>Sedans</a:t>
            </a:r>
            <a:endParaRPr sz="27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865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Great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drivers</a:t>
            </a:r>
            <a:r>
              <a:rPr dirty="0" sz="2750" spc="50"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dirty="0" sz="2750" spc="5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595959"/>
                </a:solidFill>
                <a:latin typeface="Arial"/>
                <a:cs typeface="Arial"/>
              </a:rPr>
              <a:t>“Rate</a:t>
            </a:r>
            <a:r>
              <a:rPr dirty="0" sz="2750" spc="5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595959"/>
                </a:solidFill>
                <a:latin typeface="Arial"/>
                <a:cs typeface="Arial"/>
              </a:rPr>
              <a:t>your</a:t>
            </a:r>
            <a:r>
              <a:rPr dirty="0" sz="2750" spc="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595959"/>
                </a:solidFill>
                <a:latin typeface="Arial"/>
                <a:cs typeface="Arial"/>
              </a:rPr>
              <a:t>trip”</a:t>
            </a:r>
            <a:r>
              <a:rPr dirty="0" sz="2750" spc="5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750" spc="-10">
                <a:solidFill>
                  <a:srgbClr val="595959"/>
                </a:solidFill>
                <a:latin typeface="Arial"/>
                <a:cs typeface="Arial"/>
              </a:rPr>
              <a:t>feature</a:t>
            </a:r>
            <a:endParaRPr sz="27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869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High-tech</a:t>
            </a:r>
            <a:r>
              <a:rPr dirty="0" sz="2750" spc="10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solution:</a:t>
            </a:r>
            <a:r>
              <a:rPr dirty="0" sz="2750" spc="110"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595959"/>
                </a:solidFill>
                <a:latin typeface="Arial"/>
                <a:cs typeface="Arial"/>
              </a:rPr>
              <a:t>Geo-aware</a:t>
            </a:r>
            <a:r>
              <a:rPr dirty="0" sz="2750" spc="11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595959"/>
                </a:solidFill>
                <a:latin typeface="Arial"/>
                <a:cs typeface="Arial"/>
              </a:rPr>
              <a:t>auto-</a:t>
            </a:r>
            <a:r>
              <a:rPr dirty="0" sz="2750" spc="-10">
                <a:solidFill>
                  <a:srgbClr val="595959"/>
                </a:solidFill>
                <a:latin typeface="Arial"/>
                <a:cs typeface="Arial"/>
              </a:rPr>
              <a:t>dispatch</a:t>
            </a:r>
            <a:endParaRPr sz="27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760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Optimized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fleet</a:t>
            </a:r>
            <a:r>
              <a:rPr dirty="0" sz="2750" spc="55"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dirty="0" sz="2750" spc="6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595959"/>
                </a:solidFill>
                <a:latin typeface="Arial"/>
                <a:cs typeface="Arial"/>
              </a:rPr>
              <a:t>Logistical</a:t>
            </a:r>
            <a:r>
              <a:rPr dirty="0" sz="2750" spc="5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750">
                <a:solidFill>
                  <a:srgbClr val="595959"/>
                </a:solidFill>
                <a:latin typeface="Arial"/>
                <a:cs typeface="Arial"/>
              </a:rPr>
              <a:t>LBS</a:t>
            </a:r>
            <a:r>
              <a:rPr dirty="0" sz="2750" spc="5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2750" spc="-10">
                <a:solidFill>
                  <a:srgbClr val="595959"/>
                </a:solidFill>
                <a:latin typeface="Arial"/>
                <a:cs typeface="Arial"/>
              </a:rPr>
              <a:t>software</a:t>
            </a:r>
            <a:endParaRPr sz="2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73709">
              <a:lnSpc>
                <a:spcPct val="100000"/>
              </a:lnSpc>
              <a:spcBef>
                <a:spcPts val="100"/>
              </a:spcBef>
            </a:pPr>
            <a:r>
              <a:rPr dirty="0"/>
              <a:t>Operating</a:t>
            </a:r>
            <a:r>
              <a:rPr dirty="0" spc="-30"/>
              <a:t> </a:t>
            </a:r>
            <a:r>
              <a:rPr dirty="0" spc="-10"/>
              <a:t>Principles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85191" y="1732734"/>
            <a:ext cx="6902450" cy="3703320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960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Luxury</a:t>
            </a:r>
            <a:r>
              <a:rPr dirty="0" sz="2750" spc="8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service</a:t>
            </a:r>
            <a:r>
              <a:rPr dirty="0" sz="2750" spc="9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on-</a:t>
            </a:r>
            <a:r>
              <a:rPr dirty="0" sz="2750" spc="-10">
                <a:latin typeface="Arial"/>
                <a:cs typeface="Arial"/>
              </a:rPr>
              <a:t>demand</a:t>
            </a:r>
            <a:endParaRPr sz="27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865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Modern</a:t>
            </a:r>
            <a:r>
              <a:rPr dirty="0" sz="2750" spc="5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and</a:t>
            </a:r>
            <a:r>
              <a:rPr dirty="0" sz="2750" spc="6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fuel-efficient</a:t>
            </a:r>
            <a:r>
              <a:rPr dirty="0" sz="2750" spc="60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fleet</a:t>
            </a:r>
            <a:endParaRPr sz="27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869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Customer-focused,</a:t>
            </a:r>
            <a:r>
              <a:rPr dirty="0" sz="2750" spc="29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computer-</a:t>
            </a:r>
            <a:r>
              <a:rPr dirty="0" sz="2750" spc="-10">
                <a:latin typeface="Arial"/>
                <a:cs typeface="Arial"/>
              </a:rPr>
              <a:t>coordinated</a:t>
            </a:r>
            <a:endParaRPr sz="27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760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The</a:t>
            </a:r>
            <a:r>
              <a:rPr dirty="0" sz="2750" spc="8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best</a:t>
            </a:r>
            <a:r>
              <a:rPr dirty="0" sz="2750" spc="8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end-user</a:t>
            </a:r>
            <a:r>
              <a:rPr dirty="0" sz="2750" spc="8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experience</a:t>
            </a:r>
            <a:r>
              <a:rPr dirty="0" sz="2750" spc="80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possible</a:t>
            </a:r>
            <a:endParaRPr sz="27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865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Statistically</a:t>
            </a:r>
            <a:r>
              <a:rPr dirty="0" sz="2750" spc="9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optimized</a:t>
            </a:r>
            <a:r>
              <a:rPr dirty="0" sz="2750" spc="9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response</a:t>
            </a:r>
            <a:r>
              <a:rPr dirty="0" sz="2750" spc="90">
                <a:latin typeface="Arial"/>
                <a:cs typeface="Arial"/>
              </a:rPr>
              <a:t> </a:t>
            </a:r>
            <a:r>
              <a:rPr dirty="0" sz="2750" spc="-20">
                <a:latin typeface="Arial"/>
                <a:cs typeface="Arial"/>
              </a:rPr>
              <a:t>time</a:t>
            </a:r>
            <a:endParaRPr sz="27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869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Pre-paid,</a:t>
            </a:r>
            <a:r>
              <a:rPr dirty="0" sz="2750" spc="8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cashless</a:t>
            </a:r>
            <a:r>
              <a:rPr dirty="0" sz="2750" spc="8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billing</a:t>
            </a:r>
            <a:r>
              <a:rPr dirty="0" sz="2750" spc="80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system</a:t>
            </a:r>
            <a:endParaRPr sz="27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760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Profitable</a:t>
            </a:r>
            <a:r>
              <a:rPr dirty="0" sz="2750" spc="5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by</a:t>
            </a:r>
            <a:r>
              <a:rPr dirty="0" sz="2750" spc="6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design</a:t>
            </a:r>
            <a:endParaRPr sz="2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33805">
              <a:lnSpc>
                <a:spcPct val="100000"/>
              </a:lnSpc>
              <a:spcBef>
                <a:spcPts val="100"/>
              </a:spcBef>
            </a:pPr>
            <a:r>
              <a:rPr dirty="0"/>
              <a:t>UberCab</a:t>
            </a:r>
            <a:r>
              <a:rPr dirty="0" spc="-90"/>
              <a:t> </a:t>
            </a:r>
            <a:r>
              <a:rPr dirty="0" spc="-20"/>
              <a:t>apps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85191" y="1732734"/>
            <a:ext cx="7025005" cy="1083945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960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1-Click</a:t>
            </a:r>
            <a:r>
              <a:rPr dirty="0" sz="2750" spc="7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request</a:t>
            </a:r>
            <a:r>
              <a:rPr dirty="0" sz="2750" spc="8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from</a:t>
            </a:r>
            <a:r>
              <a:rPr dirty="0" sz="2750" spc="8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Geo-aware</a:t>
            </a:r>
            <a:r>
              <a:rPr dirty="0" sz="2750" spc="80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devices</a:t>
            </a:r>
            <a:endParaRPr sz="27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865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SMS</a:t>
            </a:r>
            <a:r>
              <a:rPr dirty="0" sz="2750" spc="5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from</a:t>
            </a:r>
            <a:r>
              <a:rPr dirty="0" sz="2750" spc="5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any</a:t>
            </a:r>
            <a:r>
              <a:rPr dirty="0" sz="2750" spc="5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phone:</a:t>
            </a:r>
            <a:r>
              <a:rPr dirty="0" sz="2750" spc="5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“pickup</a:t>
            </a:r>
            <a:r>
              <a:rPr dirty="0" sz="2750" spc="5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@work</a:t>
            </a:r>
            <a:r>
              <a:rPr dirty="0" sz="2750" spc="5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in</a:t>
            </a:r>
            <a:r>
              <a:rPr dirty="0" sz="2750" spc="50">
                <a:latin typeface="Arial"/>
                <a:cs typeface="Arial"/>
              </a:rPr>
              <a:t> </a:t>
            </a:r>
            <a:r>
              <a:rPr dirty="0" sz="2750" spc="-35">
                <a:latin typeface="Arial"/>
                <a:cs typeface="Arial"/>
              </a:rPr>
              <a:t>5”</a:t>
            </a:r>
            <a:endParaRPr sz="275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7822" y="3355310"/>
            <a:ext cx="1547002" cy="267898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44719" y="3303291"/>
            <a:ext cx="1628423" cy="308043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45334" y="3303291"/>
            <a:ext cx="1414559" cy="2755322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1508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UberCab.com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85191" y="1732734"/>
            <a:ext cx="7618730" cy="2557780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960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Book</a:t>
            </a:r>
            <a:r>
              <a:rPr dirty="0" sz="2750" spc="-2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Trips,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show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Fleet</a:t>
            </a:r>
            <a:r>
              <a:rPr dirty="0" sz="2750" spc="3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status,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trip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history</a:t>
            </a:r>
            <a:endParaRPr sz="27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865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Pre-specify</a:t>
            </a:r>
            <a:r>
              <a:rPr dirty="0" sz="2750" spc="6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locations</a:t>
            </a:r>
            <a:r>
              <a:rPr dirty="0" sz="2750" spc="5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with</a:t>
            </a:r>
            <a:r>
              <a:rPr dirty="0" sz="2750" spc="6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labels</a:t>
            </a:r>
            <a:r>
              <a:rPr dirty="0" sz="2750" spc="6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+</a:t>
            </a:r>
            <a:r>
              <a:rPr dirty="0" sz="2750" spc="5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coordinates</a:t>
            </a:r>
            <a:endParaRPr sz="2750">
              <a:latin typeface="Arial"/>
              <a:cs typeface="Arial"/>
            </a:endParaRPr>
          </a:p>
          <a:p>
            <a:pPr lvl="1" marL="935355" indent="-434340">
              <a:lnSpc>
                <a:spcPct val="100000"/>
              </a:lnSpc>
              <a:spcBef>
                <a:spcPts val="640"/>
              </a:spcBef>
              <a:buChar char="–"/>
              <a:tabLst>
                <a:tab pos="935355" algn="l"/>
              </a:tabLst>
            </a:pPr>
            <a:r>
              <a:rPr dirty="0" sz="2550" spc="-110">
                <a:latin typeface="Arial"/>
                <a:cs typeface="Arial"/>
              </a:rPr>
              <a:t>To</a:t>
            </a:r>
            <a:r>
              <a:rPr dirty="0" sz="2550" spc="-1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enable</a:t>
            </a:r>
            <a:r>
              <a:rPr dirty="0" sz="2550" spc="-10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easy</a:t>
            </a:r>
            <a:r>
              <a:rPr dirty="0" sz="2550" spc="-1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texting</a:t>
            </a:r>
            <a:r>
              <a:rPr dirty="0" sz="2550" spc="-10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of</a:t>
            </a:r>
            <a:r>
              <a:rPr dirty="0" sz="2550" spc="-2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pickup</a:t>
            </a:r>
            <a:r>
              <a:rPr dirty="0" sz="2550" spc="-10">
                <a:latin typeface="Arial"/>
                <a:cs typeface="Arial"/>
              </a:rPr>
              <a:t> locations</a:t>
            </a:r>
            <a:endParaRPr sz="25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805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Google</a:t>
            </a:r>
            <a:r>
              <a:rPr dirty="0" sz="2750" spc="6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Maps</a:t>
            </a:r>
            <a:r>
              <a:rPr dirty="0" sz="2750" spc="7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integration</a:t>
            </a:r>
            <a:endParaRPr sz="2750">
              <a:latin typeface="Arial"/>
              <a:cs typeface="Arial"/>
            </a:endParaRPr>
          </a:p>
          <a:p>
            <a:pPr lvl="1" marL="935355" indent="-434340">
              <a:lnSpc>
                <a:spcPct val="100000"/>
              </a:lnSpc>
              <a:spcBef>
                <a:spcPts val="745"/>
              </a:spcBef>
              <a:buChar char="–"/>
              <a:tabLst>
                <a:tab pos="935355" algn="l"/>
              </a:tabLst>
            </a:pPr>
            <a:r>
              <a:rPr dirty="0" sz="2550">
                <a:latin typeface="Arial"/>
                <a:cs typeface="Arial"/>
              </a:rPr>
              <a:t>Lat/long</a:t>
            </a:r>
            <a:r>
              <a:rPr dirty="0" sz="2550" spc="10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for</a:t>
            </a:r>
            <a:r>
              <a:rPr dirty="0" sz="2550" spc="1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“home”,</a:t>
            </a:r>
            <a:r>
              <a:rPr dirty="0" sz="2550" spc="20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“bob-</a:t>
            </a:r>
            <a:r>
              <a:rPr dirty="0" sz="2550">
                <a:latin typeface="Arial"/>
                <a:cs typeface="Arial"/>
              </a:rPr>
              <a:t>work”,</a:t>
            </a:r>
            <a:r>
              <a:rPr dirty="0" sz="2550" spc="20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“alice-</a:t>
            </a:r>
            <a:r>
              <a:rPr dirty="0" sz="2550" spc="-20">
                <a:latin typeface="Arial"/>
                <a:cs typeface="Arial"/>
              </a:rPr>
              <a:t>apt”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88342" y="4701020"/>
            <a:ext cx="2768319" cy="1913397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68148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Use-Cases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85191" y="1732734"/>
            <a:ext cx="7275195" cy="3648710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960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Trips</a:t>
            </a:r>
            <a:r>
              <a:rPr dirty="0" sz="2750" spc="3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to/from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restaurants,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bars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&amp;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shows</a:t>
            </a:r>
            <a:endParaRPr sz="27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865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Fast</a:t>
            </a:r>
            <a:r>
              <a:rPr dirty="0" sz="2750" spc="6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local</a:t>
            </a:r>
            <a:r>
              <a:rPr dirty="0" sz="2750" spc="6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transport</a:t>
            </a:r>
            <a:r>
              <a:rPr dirty="0" sz="2750" spc="6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where</a:t>
            </a:r>
            <a:r>
              <a:rPr dirty="0" sz="2750" spc="6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parking</a:t>
            </a:r>
            <a:r>
              <a:rPr dirty="0" sz="2750" spc="6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isn’t</a:t>
            </a:r>
            <a:r>
              <a:rPr dirty="0" sz="2750" spc="60">
                <a:latin typeface="Arial"/>
                <a:cs typeface="Arial"/>
              </a:rPr>
              <a:t> </a:t>
            </a:r>
            <a:r>
              <a:rPr dirty="0" sz="2750" spc="-20">
                <a:latin typeface="Arial"/>
                <a:cs typeface="Arial"/>
              </a:rPr>
              <a:t>easy</a:t>
            </a:r>
            <a:endParaRPr sz="27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869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Airport</a:t>
            </a:r>
            <a:r>
              <a:rPr dirty="0" sz="2750" spc="9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pickup/dropoff</a:t>
            </a:r>
            <a:r>
              <a:rPr dirty="0" sz="2750" spc="9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(pre-</a:t>
            </a:r>
            <a:r>
              <a:rPr dirty="0" sz="2750" spc="-10">
                <a:latin typeface="Arial"/>
                <a:cs typeface="Arial"/>
              </a:rPr>
              <a:t>scheduled)</a:t>
            </a:r>
            <a:endParaRPr sz="27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760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Working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while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commuting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(wifi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in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cars)</a:t>
            </a:r>
            <a:endParaRPr sz="2750">
              <a:latin typeface="Arial"/>
              <a:cs typeface="Arial"/>
            </a:endParaRPr>
          </a:p>
          <a:p>
            <a:pPr marL="501015">
              <a:lnSpc>
                <a:spcPct val="100000"/>
              </a:lnSpc>
              <a:spcBef>
                <a:spcPts val="640"/>
              </a:spcBef>
              <a:tabLst>
                <a:tab pos="935355" algn="l"/>
              </a:tabLst>
            </a:pPr>
            <a:r>
              <a:rPr dirty="0" sz="2550" spc="-50">
                <a:latin typeface="Arial"/>
                <a:cs typeface="Arial"/>
              </a:rPr>
              <a:t>–</a:t>
            </a:r>
            <a:r>
              <a:rPr dirty="0" sz="2550">
                <a:latin typeface="Arial"/>
                <a:cs typeface="Arial"/>
              </a:rPr>
              <a:t>	3</a:t>
            </a:r>
            <a:r>
              <a:rPr dirty="0" sz="2550" spc="-10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person rideshare to a </a:t>
            </a:r>
            <a:r>
              <a:rPr dirty="0" sz="2550" spc="-10">
                <a:latin typeface="Arial"/>
                <a:cs typeface="Arial"/>
              </a:rPr>
              <a:t>South-</a:t>
            </a:r>
            <a:r>
              <a:rPr dirty="0" sz="2550">
                <a:latin typeface="Arial"/>
                <a:cs typeface="Arial"/>
              </a:rPr>
              <a:t>Bay</a:t>
            </a:r>
            <a:r>
              <a:rPr dirty="0" sz="2550" spc="5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campus</a:t>
            </a:r>
            <a:endParaRPr sz="25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905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Dropping</a:t>
            </a:r>
            <a:r>
              <a:rPr dirty="0" sz="2750" spc="2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off</a:t>
            </a:r>
            <a:r>
              <a:rPr dirty="0" sz="2750" spc="3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Kids</a:t>
            </a:r>
            <a:r>
              <a:rPr dirty="0" sz="2750" spc="3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at</a:t>
            </a:r>
            <a:r>
              <a:rPr dirty="0" sz="2750" spc="3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School</a:t>
            </a:r>
            <a:endParaRPr sz="27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760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Elderly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transport</a:t>
            </a:r>
            <a:endParaRPr sz="2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69695">
              <a:lnSpc>
                <a:spcPct val="100000"/>
              </a:lnSpc>
              <a:spcBef>
                <a:spcPts val="100"/>
              </a:spcBef>
            </a:pPr>
            <a:r>
              <a:rPr dirty="0"/>
              <a:t>User</a:t>
            </a:r>
            <a:r>
              <a:rPr dirty="0" spc="-40"/>
              <a:t> </a:t>
            </a:r>
            <a:r>
              <a:rPr dirty="0" spc="-10"/>
              <a:t>Benefits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85191" y="1732734"/>
            <a:ext cx="8512175" cy="3608070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960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Cabs</a:t>
            </a:r>
            <a:r>
              <a:rPr dirty="0" sz="2750" spc="5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don’t</a:t>
            </a:r>
            <a:r>
              <a:rPr dirty="0" sz="2750" spc="6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guarantee</a:t>
            </a:r>
            <a:r>
              <a:rPr dirty="0" sz="2750" spc="6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pickup,</a:t>
            </a:r>
            <a:r>
              <a:rPr dirty="0" sz="2750" spc="6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can</a:t>
            </a:r>
            <a:r>
              <a:rPr dirty="0" sz="2750" spc="6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take</a:t>
            </a:r>
            <a:r>
              <a:rPr dirty="0" sz="2750" spc="6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45</a:t>
            </a:r>
            <a:r>
              <a:rPr dirty="0" sz="2750" spc="65">
                <a:latin typeface="Arial"/>
                <a:cs typeface="Arial"/>
              </a:rPr>
              <a:t> </a:t>
            </a:r>
            <a:r>
              <a:rPr dirty="0" sz="2750" spc="-20">
                <a:latin typeface="Arial"/>
                <a:cs typeface="Arial"/>
              </a:rPr>
              <a:t>mins</a:t>
            </a:r>
            <a:endParaRPr sz="27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865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Cab</a:t>
            </a:r>
            <a:r>
              <a:rPr dirty="0" sz="2750" spc="3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aren’t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as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safe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or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clean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as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limos</a:t>
            </a:r>
            <a:endParaRPr sz="27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869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Car</a:t>
            </a:r>
            <a:r>
              <a:rPr dirty="0" sz="2750" spc="5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services</a:t>
            </a:r>
            <a:r>
              <a:rPr dirty="0" sz="2750" spc="6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require</a:t>
            </a:r>
            <a:r>
              <a:rPr dirty="0" sz="2750" spc="6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1-3</a:t>
            </a:r>
            <a:r>
              <a:rPr dirty="0" sz="2750" spc="6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hours</a:t>
            </a:r>
            <a:r>
              <a:rPr dirty="0" sz="2750" spc="6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notice</a:t>
            </a:r>
            <a:endParaRPr sz="27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760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Car</a:t>
            </a:r>
            <a:r>
              <a:rPr dirty="0" sz="2750" spc="6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services</a:t>
            </a:r>
            <a:r>
              <a:rPr dirty="0" sz="2750" spc="6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transfers</a:t>
            </a:r>
            <a:r>
              <a:rPr dirty="0" sz="2750" spc="6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average</a:t>
            </a:r>
            <a:r>
              <a:rPr dirty="0" sz="2750" spc="6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over</a:t>
            </a:r>
            <a:r>
              <a:rPr dirty="0" sz="2750" spc="6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$60</a:t>
            </a:r>
            <a:r>
              <a:rPr dirty="0" sz="2750" spc="6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+</a:t>
            </a:r>
            <a:r>
              <a:rPr dirty="0" sz="2750" spc="60">
                <a:latin typeface="Arial"/>
                <a:cs typeface="Arial"/>
              </a:rPr>
              <a:t> </a:t>
            </a:r>
            <a:r>
              <a:rPr dirty="0" sz="2750" spc="-25">
                <a:latin typeface="Arial"/>
                <a:cs typeface="Arial"/>
              </a:rPr>
              <a:t>tax</a:t>
            </a:r>
            <a:endParaRPr sz="2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60"/>
              </a:spcBef>
              <a:buFont typeface="Arial"/>
              <a:buChar char="•"/>
            </a:pPr>
            <a:endParaRPr sz="2750">
              <a:latin typeface="Arial"/>
              <a:cs typeface="Arial"/>
            </a:endParaRPr>
          </a:p>
          <a:p>
            <a:pPr marL="379095" marR="5080" indent="-366395">
              <a:lnSpc>
                <a:spcPct val="100400"/>
              </a:lnSpc>
              <a:buChar char="•"/>
              <a:tabLst>
                <a:tab pos="379095" algn="l"/>
              </a:tabLst>
            </a:pPr>
            <a:r>
              <a:rPr dirty="0" sz="2750">
                <a:latin typeface="Arial"/>
                <a:cs typeface="Arial"/>
              </a:rPr>
              <a:t>UberCab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would</a:t>
            </a:r>
            <a:r>
              <a:rPr dirty="0" sz="2750" spc="5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be</a:t>
            </a:r>
            <a:r>
              <a:rPr dirty="0" sz="2750" spc="5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faster</a:t>
            </a:r>
            <a:r>
              <a:rPr dirty="0" sz="2750" spc="5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&amp;</a:t>
            </a:r>
            <a:r>
              <a:rPr dirty="0" sz="2750" spc="5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cheaper</a:t>
            </a:r>
            <a:r>
              <a:rPr dirty="0" sz="2750" spc="5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than</a:t>
            </a:r>
            <a:r>
              <a:rPr dirty="0" sz="2750" spc="5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a</a:t>
            </a:r>
            <a:r>
              <a:rPr dirty="0" sz="2750" spc="5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limo,</a:t>
            </a:r>
            <a:r>
              <a:rPr dirty="0" sz="2750" spc="55">
                <a:latin typeface="Arial"/>
                <a:cs typeface="Arial"/>
              </a:rPr>
              <a:t> </a:t>
            </a:r>
            <a:r>
              <a:rPr dirty="0" sz="2750" spc="-25">
                <a:latin typeface="Arial"/>
                <a:cs typeface="Arial"/>
              </a:rPr>
              <a:t>but </a:t>
            </a:r>
            <a:r>
              <a:rPr dirty="0" sz="2750">
                <a:latin typeface="Arial"/>
                <a:cs typeface="Arial"/>
              </a:rPr>
              <a:t>nicer</a:t>
            </a:r>
            <a:r>
              <a:rPr dirty="0" sz="2750" spc="3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&amp;</a:t>
            </a:r>
            <a:r>
              <a:rPr dirty="0" sz="2750" spc="3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safer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than</a:t>
            </a:r>
            <a:r>
              <a:rPr dirty="0" sz="2750" spc="3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a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taxicab</a:t>
            </a:r>
            <a:endParaRPr sz="2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3980">
              <a:lnSpc>
                <a:spcPct val="100000"/>
              </a:lnSpc>
              <a:spcBef>
                <a:spcPts val="100"/>
              </a:spcBef>
            </a:pPr>
            <a:r>
              <a:rPr dirty="0"/>
              <a:t>Environmental</a:t>
            </a:r>
            <a:r>
              <a:rPr dirty="0" spc="-70"/>
              <a:t> </a:t>
            </a:r>
            <a:r>
              <a:rPr dirty="0" spc="-10"/>
              <a:t>Benefits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85191" y="1758895"/>
            <a:ext cx="8167370" cy="443420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620"/>
              </a:spcBef>
              <a:buChar char="•"/>
              <a:tabLst>
                <a:tab pos="378460" algn="l"/>
              </a:tabLst>
            </a:pPr>
            <a:r>
              <a:rPr dirty="0" sz="3100">
                <a:latin typeface="Arial"/>
                <a:cs typeface="Arial"/>
              </a:rPr>
              <a:t>Better</a:t>
            </a:r>
            <a:r>
              <a:rPr dirty="0" sz="3100" spc="-9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Utilization</a:t>
            </a:r>
            <a:r>
              <a:rPr dirty="0" sz="3100" spc="-9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of</a:t>
            </a:r>
            <a:r>
              <a:rPr dirty="0" sz="3100" spc="-95">
                <a:latin typeface="Arial"/>
                <a:cs typeface="Arial"/>
              </a:rPr>
              <a:t> </a:t>
            </a:r>
            <a:r>
              <a:rPr dirty="0" sz="3100" spc="-10">
                <a:latin typeface="Arial"/>
                <a:cs typeface="Arial"/>
              </a:rPr>
              <a:t>Vehicle</a:t>
            </a:r>
            <a:r>
              <a:rPr dirty="0" sz="3100" spc="-90">
                <a:latin typeface="Arial"/>
                <a:cs typeface="Arial"/>
              </a:rPr>
              <a:t> </a:t>
            </a:r>
            <a:r>
              <a:rPr dirty="0" sz="3100" spc="-10">
                <a:latin typeface="Arial"/>
                <a:cs typeface="Arial"/>
              </a:rPr>
              <a:t>Resources</a:t>
            </a:r>
            <a:endParaRPr sz="3100">
              <a:latin typeface="Arial"/>
              <a:cs typeface="Arial"/>
            </a:endParaRPr>
          </a:p>
          <a:p>
            <a:pPr lvl="1" marL="798830" indent="-297815">
              <a:lnSpc>
                <a:spcPct val="100000"/>
              </a:lnSpc>
              <a:spcBef>
                <a:spcPts val="470"/>
              </a:spcBef>
              <a:buChar char="–"/>
              <a:tabLst>
                <a:tab pos="798830" algn="l"/>
              </a:tabLst>
            </a:pPr>
            <a:r>
              <a:rPr dirty="0" sz="2650">
                <a:latin typeface="Arial"/>
                <a:cs typeface="Arial"/>
              </a:rPr>
              <a:t>In</a:t>
            </a:r>
            <a:r>
              <a:rPr dirty="0" sz="2650" spc="-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NYC, 35%</a:t>
            </a:r>
            <a:r>
              <a:rPr dirty="0" sz="2650" spc="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of time</a:t>
            </a:r>
            <a:r>
              <a:rPr dirty="0" sz="2650" spc="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is</a:t>
            </a:r>
            <a:r>
              <a:rPr dirty="0" sz="2650" spc="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spend looking</a:t>
            </a:r>
            <a:r>
              <a:rPr dirty="0" sz="2650" spc="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for</a:t>
            </a:r>
            <a:r>
              <a:rPr dirty="0" sz="2650" spc="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fares</a:t>
            </a:r>
            <a:endParaRPr sz="2650">
              <a:latin typeface="Arial"/>
              <a:cs typeface="Arial"/>
            </a:endParaRPr>
          </a:p>
          <a:p>
            <a:pPr lvl="1" marL="798830" indent="-297815">
              <a:lnSpc>
                <a:spcPct val="100000"/>
              </a:lnSpc>
              <a:spcBef>
                <a:spcPts val="555"/>
              </a:spcBef>
              <a:buChar char="–"/>
              <a:tabLst>
                <a:tab pos="798830" algn="l"/>
              </a:tabLst>
            </a:pPr>
            <a:r>
              <a:rPr dirty="0" sz="2650">
                <a:latin typeface="Arial"/>
                <a:cs typeface="Arial"/>
              </a:rPr>
              <a:t>In less</a:t>
            </a:r>
            <a:r>
              <a:rPr dirty="0" sz="2650" spc="1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dense</a:t>
            </a:r>
            <a:r>
              <a:rPr dirty="0" sz="2650" spc="1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cities,</a:t>
            </a:r>
            <a:r>
              <a:rPr dirty="0" sz="2650" spc="1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can</a:t>
            </a:r>
            <a:r>
              <a:rPr dirty="0" sz="2650" spc="1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be</a:t>
            </a:r>
            <a:r>
              <a:rPr dirty="0" sz="2650" spc="1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over</a:t>
            </a:r>
            <a:r>
              <a:rPr dirty="0" sz="2650" spc="1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half</a:t>
            </a:r>
            <a:r>
              <a:rPr dirty="0" sz="2650" spc="1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“dead-time”</a:t>
            </a:r>
            <a:endParaRPr sz="2650">
              <a:latin typeface="Arial"/>
              <a:cs typeface="Arial"/>
            </a:endParaRPr>
          </a:p>
          <a:p>
            <a:pPr lvl="1" marL="798830" indent="-297815">
              <a:lnSpc>
                <a:spcPct val="100000"/>
              </a:lnSpc>
              <a:spcBef>
                <a:spcPts val="560"/>
              </a:spcBef>
              <a:buChar char="–"/>
              <a:tabLst>
                <a:tab pos="798830" algn="l"/>
              </a:tabLst>
            </a:pPr>
            <a:r>
              <a:rPr dirty="0" sz="2650">
                <a:latin typeface="Arial"/>
                <a:cs typeface="Arial"/>
              </a:rPr>
              <a:t>As</a:t>
            </a:r>
            <a:r>
              <a:rPr dirty="0" sz="2650" spc="-1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swarm</a:t>
            </a:r>
            <a:r>
              <a:rPr dirty="0" sz="2650" spc="-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size</a:t>
            </a:r>
            <a:r>
              <a:rPr dirty="0" sz="2650" spc="-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increases,</a:t>
            </a:r>
            <a:r>
              <a:rPr dirty="0" sz="2650" spc="-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efficiency</a:t>
            </a:r>
            <a:r>
              <a:rPr dirty="0" sz="2650" spc="-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will</a:t>
            </a:r>
            <a:r>
              <a:rPr dirty="0" sz="2650" spc="-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improve</a:t>
            </a:r>
            <a:endParaRPr sz="26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785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Hybrid</a:t>
            </a:r>
            <a:r>
              <a:rPr dirty="0" sz="2750" spc="3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vehicles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(2x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efficiency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of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a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 spc="-20">
                <a:latin typeface="Arial"/>
                <a:cs typeface="Arial"/>
              </a:rPr>
              <a:t>cab)</a:t>
            </a:r>
            <a:endParaRPr sz="2750">
              <a:latin typeface="Arial"/>
              <a:cs typeface="Arial"/>
            </a:endParaRPr>
          </a:p>
          <a:p>
            <a:pPr lvl="1" marL="798830" indent="-297815">
              <a:lnSpc>
                <a:spcPct val="100000"/>
              </a:lnSpc>
              <a:spcBef>
                <a:spcPts val="535"/>
              </a:spcBef>
              <a:buChar char="–"/>
              <a:tabLst>
                <a:tab pos="798830" algn="l"/>
              </a:tabLst>
            </a:pPr>
            <a:r>
              <a:rPr dirty="0" sz="2650">
                <a:latin typeface="Arial"/>
                <a:cs typeface="Arial"/>
              </a:rPr>
              <a:t>Mercedes</a:t>
            </a:r>
            <a:r>
              <a:rPr dirty="0" sz="2650" spc="-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S400</a:t>
            </a:r>
            <a:r>
              <a:rPr dirty="0" sz="2650" spc="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BlueHybrid,</a:t>
            </a:r>
            <a:r>
              <a:rPr dirty="0" sz="2650" spc="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Lexus</a:t>
            </a:r>
            <a:r>
              <a:rPr dirty="0" sz="2650" spc="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GS-</a:t>
            </a:r>
            <a:r>
              <a:rPr dirty="0" sz="2650" spc="-20">
                <a:latin typeface="Arial"/>
                <a:cs typeface="Arial"/>
              </a:rPr>
              <a:t>450h</a:t>
            </a:r>
            <a:endParaRPr sz="2650">
              <a:latin typeface="Arial"/>
              <a:cs typeface="Arial"/>
            </a:endParaRPr>
          </a:p>
          <a:p>
            <a:pPr lvl="1" marL="798830" indent="-297815">
              <a:lnSpc>
                <a:spcPct val="100000"/>
              </a:lnSpc>
              <a:spcBef>
                <a:spcPts val="560"/>
              </a:spcBef>
              <a:buChar char="–"/>
              <a:tabLst>
                <a:tab pos="798830" algn="l"/>
              </a:tabLst>
            </a:pPr>
            <a:r>
              <a:rPr dirty="0" sz="2650">
                <a:latin typeface="Arial"/>
                <a:cs typeface="Arial"/>
              </a:rPr>
              <a:t>Reduce</a:t>
            </a:r>
            <a:r>
              <a:rPr dirty="0" sz="2650" spc="-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carbon</a:t>
            </a:r>
            <a:r>
              <a:rPr dirty="0" sz="2650" spc="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footprint,</a:t>
            </a:r>
            <a:r>
              <a:rPr dirty="0" sz="2650" spc="-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better use</a:t>
            </a:r>
            <a:r>
              <a:rPr dirty="0" sz="2650" spc="-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of</a:t>
            </a:r>
            <a:r>
              <a:rPr dirty="0" sz="2650" spc="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time</a:t>
            </a:r>
            <a:r>
              <a:rPr dirty="0" sz="2650" spc="-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in </a:t>
            </a:r>
            <a:r>
              <a:rPr dirty="0" sz="2650" spc="-25">
                <a:latin typeface="Arial"/>
                <a:cs typeface="Arial"/>
              </a:rPr>
              <a:t>car</a:t>
            </a:r>
            <a:endParaRPr sz="2650">
              <a:latin typeface="Arial"/>
              <a:cs typeface="Arial"/>
            </a:endParaRPr>
          </a:p>
          <a:p>
            <a:pPr marL="378460" indent="-366395">
              <a:lnSpc>
                <a:spcPct val="100000"/>
              </a:lnSpc>
              <a:spcBef>
                <a:spcPts val="785"/>
              </a:spcBef>
              <a:buChar char="•"/>
              <a:tabLst>
                <a:tab pos="378460" algn="l"/>
                <a:tab pos="501015" algn="l"/>
              </a:tabLst>
            </a:pPr>
            <a:r>
              <a:rPr dirty="0" sz="2750">
                <a:latin typeface="Arial"/>
                <a:cs typeface="Arial"/>
              </a:rPr>
              <a:t>Ridesharing/Carpooling</a:t>
            </a:r>
            <a:r>
              <a:rPr dirty="0" sz="2750" spc="8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incentives</a:t>
            </a:r>
            <a:r>
              <a:rPr dirty="0" sz="2750" spc="9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–</a:t>
            </a:r>
            <a:r>
              <a:rPr dirty="0" sz="2750" spc="9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lower</a:t>
            </a:r>
            <a:r>
              <a:rPr dirty="0" sz="2750" spc="9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rates</a:t>
            </a:r>
            <a:endParaRPr sz="2750">
              <a:latin typeface="Arial"/>
              <a:cs typeface="Arial"/>
            </a:endParaRPr>
          </a:p>
          <a:p>
            <a:pPr lvl="1" marL="798830" indent="-297815">
              <a:lnSpc>
                <a:spcPct val="100000"/>
              </a:lnSpc>
              <a:spcBef>
                <a:spcPts val="535"/>
              </a:spcBef>
              <a:buChar char="–"/>
              <a:tabLst>
                <a:tab pos="798830" algn="l"/>
              </a:tabLst>
            </a:pPr>
            <a:r>
              <a:rPr dirty="0" sz="2650">
                <a:latin typeface="Arial"/>
                <a:cs typeface="Arial"/>
              </a:rPr>
              <a:t>Trip</a:t>
            </a:r>
            <a:r>
              <a:rPr dirty="0" sz="2650" spc="-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to</a:t>
            </a:r>
            <a:r>
              <a:rPr dirty="0" sz="2650" spc="-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SFO,</a:t>
            </a:r>
            <a:r>
              <a:rPr dirty="0" sz="2650" spc="-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or</a:t>
            </a:r>
            <a:r>
              <a:rPr dirty="0" sz="2650" spc="-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Ballpark</a:t>
            </a:r>
            <a:r>
              <a:rPr dirty="0" sz="2650" spc="-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to</a:t>
            </a:r>
            <a:r>
              <a:rPr dirty="0" sz="2650" spc="-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Marina</a:t>
            </a:r>
            <a:r>
              <a:rPr dirty="0" sz="2650" spc="-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after</a:t>
            </a:r>
            <a:r>
              <a:rPr dirty="0" sz="2650" spc="-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</a:t>
            </a:r>
            <a:r>
              <a:rPr dirty="0" sz="2650" spc="-5">
                <a:latin typeface="Arial"/>
                <a:cs typeface="Arial"/>
              </a:rPr>
              <a:t> </a:t>
            </a:r>
            <a:r>
              <a:rPr dirty="0" sz="2650" spc="-20">
                <a:latin typeface="Arial"/>
                <a:cs typeface="Arial"/>
              </a:rPr>
              <a:t>game</a:t>
            </a:r>
            <a:endParaRPr sz="2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19835">
              <a:lnSpc>
                <a:spcPct val="100000"/>
              </a:lnSpc>
              <a:spcBef>
                <a:spcPts val="100"/>
              </a:spcBef>
            </a:pPr>
            <a:r>
              <a:rPr dirty="0"/>
              <a:t>UberCab</a:t>
            </a:r>
            <a:r>
              <a:rPr dirty="0" spc="-90"/>
              <a:t> </a:t>
            </a:r>
            <a:r>
              <a:rPr dirty="0" spc="-10"/>
              <a:t>Fleet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71054" y="4399416"/>
            <a:ext cx="2706914" cy="98856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42721" y="4461709"/>
            <a:ext cx="2390524" cy="917821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7150" rIns="0" bIns="0" rtlCol="0" vert="horz">
            <a:spAutoFit/>
          </a:bodyPr>
          <a:lstStyle/>
          <a:p>
            <a:pPr marL="365125" indent="-352425">
              <a:lnSpc>
                <a:spcPct val="100000"/>
              </a:lnSpc>
              <a:spcBef>
                <a:spcPts val="450"/>
              </a:spcBef>
              <a:buChar char="•"/>
              <a:tabLst>
                <a:tab pos="365125" algn="l"/>
              </a:tabLst>
            </a:pPr>
            <a:r>
              <a:rPr dirty="0" sz="3350"/>
              <a:t>Premium</a:t>
            </a:r>
            <a:r>
              <a:rPr dirty="0" sz="3350" spc="35"/>
              <a:t> </a:t>
            </a:r>
            <a:r>
              <a:rPr dirty="0" sz="3350"/>
              <a:t>–</a:t>
            </a:r>
            <a:r>
              <a:rPr dirty="0" sz="3350" spc="35"/>
              <a:t> </a:t>
            </a:r>
            <a:r>
              <a:rPr dirty="0" sz="3350"/>
              <a:t>S550</a:t>
            </a:r>
            <a:r>
              <a:rPr dirty="0" sz="3350" spc="40"/>
              <a:t> </a:t>
            </a:r>
            <a:r>
              <a:rPr dirty="0" sz="3350"/>
              <a:t>for</a:t>
            </a:r>
            <a:r>
              <a:rPr dirty="0" sz="3350" spc="35"/>
              <a:t> </a:t>
            </a:r>
            <a:r>
              <a:rPr dirty="0" sz="3350"/>
              <a:t>SF</a:t>
            </a:r>
            <a:r>
              <a:rPr dirty="0" sz="3350" spc="35"/>
              <a:t> </a:t>
            </a:r>
            <a:r>
              <a:rPr dirty="0" sz="3350"/>
              <a:t>Beta</a:t>
            </a:r>
            <a:r>
              <a:rPr dirty="0" sz="3350" spc="35"/>
              <a:t> </a:t>
            </a:r>
            <a:r>
              <a:rPr dirty="0" sz="3350" spc="-10"/>
              <a:t>clients</a:t>
            </a:r>
            <a:endParaRPr sz="3350"/>
          </a:p>
          <a:p>
            <a:pPr lvl="1" marL="853440" indent="-352425">
              <a:lnSpc>
                <a:spcPct val="100000"/>
              </a:lnSpc>
              <a:spcBef>
                <a:spcPts val="365"/>
              </a:spcBef>
              <a:buChar char="•"/>
              <a:tabLst>
                <a:tab pos="853440" algn="l"/>
              </a:tabLst>
            </a:pPr>
            <a:r>
              <a:rPr dirty="0" sz="3350">
                <a:latin typeface="Arial"/>
                <a:cs typeface="Arial"/>
              </a:rPr>
              <a:t>30mpg</a:t>
            </a:r>
            <a:r>
              <a:rPr dirty="0" sz="3350" spc="55">
                <a:latin typeface="Arial"/>
                <a:cs typeface="Arial"/>
              </a:rPr>
              <a:t> </a:t>
            </a:r>
            <a:r>
              <a:rPr dirty="0" sz="3350">
                <a:latin typeface="Arial"/>
                <a:cs typeface="Arial"/>
              </a:rPr>
              <a:t>with</a:t>
            </a:r>
            <a:r>
              <a:rPr dirty="0" sz="3350" spc="50">
                <a:latin typeface="Arial"/>
                <a:cs typeface="Arial"/>
              </a:rPr>
              <a:t> </a:t>
            </a:r>
            <a:r>
              <a:rPr dirty="0" sz="3350">
                <a:latin typeface="Arial"/>
                <a:cs typeface="Arial"/>
              </a:rPr>
              <a:t>S400</a:t>
            </a:r>
            <a:r>
              <a:rPr dirty="0" sz="3350" spc="55">
                <a:latin typeface="Arial"/>
                <a:cs typeface="Arial"/>
              </a:rPr>
              <a:t> </a:t>
            </a:r>
            <a:r>
              <a:rPr dirty="0" sz="3350">
                <a:latin typeface="Arial"/>
                <a:cs typeface="Arial"/>
              </a:rPr>
              <a:t>BlueHybrid</a:t>
            </a:r>
            <a:r>
              <a:rPr dirty="0" sz="3350" spc="55">
                <a:latin typeface="Arial"/>
                <a:cs typeface="Arial"/>
              </a:rPr>
              <a:t> </a:t>
            </a:r>
            <a:r>
              <a:rPr dirty="0" sz="3350">
                <a:latin typeface="Arial"/>
                <a:cs typeface="Arial"/>
              </a:rPr>
              <a:t>(in</a:t>
            </a:r>
            <a:r>
              <a:rPr dirty="0" sz="3350" spc="50">
                <a:latin typeface="Arial"/>
                <a:cs typeface="Arial"/>
              </a:rPr>
              <a:t> </a:t>
            </a:r>
            <a:r>
              <a:rPr dirty="0" sz="3350" spc="-10">
                <a:latin typeface="Arial"/>
                <a:cs typeface="Arial"/>
              </a:rPr>
              <a:t>2010)</a:t>
            </a:r>
            <a:endParaRPr sz="3350">
              <a:latin typeface="Arial"/>
              <a:cs typeface="Arial"/>
            </a:endParaRPr>
          </a:p>
          <a:p>
            <a:pPr marL="365125" indent="-352425">
              <a:lnSpc>
                <a:spcPct val="100000"/>
              </a:lnSpc>
              <a:spcBef>
                <a:spcPts val="360"/>
              </a:spcBef>
              <a:buChar char="•"/>
              <a:tabLst>
                <a:tab pos="365125" algn="l"/>
              </a:tabLst>
            </a:pPr>
            <a:r>
              <a:rPr dirty="0" sz="3350"/>
              <a:t>Standard</a:t>
            </a:r>
            <a:r>
              <a:rPr dirty="0" sz="3350" spc="65"/>
              <a:t> </a:t>
            </a:r>
            <a:r>
              <a:rPr dirty="0" sz="3350"/>
              <a:t>–</a:t>
            </a:r>
            <a:r>
              <a:rPr dirty="0" sz="3350" spc="75"/>
              <a:t> </a:t>
            </a:r>
            <a:r>
              <a:rPr dirty="0" sz="3350"/>
              <a:t>Lexus</a:t>
            </a:r>
            <a:r>
              <a:rPr dirty="0" sz="3350" spc="75"/>
              <a:t> </a:t>
            </a:r>
            <a:r>
              <a:rPr dirty="0" sz="3350"/>
              <a:t>GS450h</a:t>
            </a:r>
            <a:r>
              <a:rPr dirty="0" sz="3350" spc="75"/>
              <a:t> </a:t>
            </a:r>
            <a:r>
              <a:rPr dirty="0" sz="3350"/>
              <a:t>or</a:t>
            </a:r>
            <a:r>
              <a:rPr dirty="0" sz="3350" spc="80"/>
              <a:t> </a:t>
            </a:r>
            <a:r>
              <a:rPr dirty="0" sz="3350"/>
              <a:t>e320–</a:t>
            </a:r>
            <a:r>
              <a:rPr dirty="0" sz="3350" spc="75"/>
              <a:t> </a:t>
            </a:r>
            <a:r>
              <a:rPr dirty="0" sz="3350" spc="-10"/>
              <a:t>23mpg</a:t>
            </a:r>
            <a:endParaRPr sz="3350"/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6" name="object 6" descr=""/>
          <p:cNvSpPr txBox="1"/>
          <p:nvPr/>
        </p:nvSpPr>
        <p:spPr>
          <a:xfrm>
            <a:off x="985191" y="5547586"/>
            <a:ext cx="8359775" cy="5416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65125" indent="-352425">
              <a:lnSpc>
                <a:spcPct val="100000"/>
              </a:lnSpc>
              <a:spcBef>
                <a:spcPts val="135"/>
              </a:spcBef>
              <a:buChar char="•"/>
              <a:tabLst>
                <a:tab pos="365125" algn="l"/>
              </a:tabLst>
            </a:pPr>
            <a:r>
              <a:rPr dirty="0" sz="3350">
                <a:latin typeface="Arial"/>
                <a:cs typeface="Arial"/>
              </a:rPr>
              <a:t>Existing</a:t>
            </a:r>
            <a:r>
              <a:rPr dirty="0" sz="3350" spc="70">
                <a:latin typeface="Arial"/>
                <a:cs typeface="Arial"/>
              </a:rPr>
              <a:t> </a:t>
            </a:r>
            <a:r>
              <a:rPr dirty="0" sz="3350">
                <a:latin typeface="Arial"/>
                <a:cs typeface="Arial"/>
              </a:rPr>
              <a:t>cab/towncar</a:t>
            </a:r>
            <a:r>
              <a:rPr dirty="0" sz="3350" spc="80">
                <a:latin typeface="Arial"/>
                <a:cs typeface="Arial"/>
              </a:rPr>
              <a:t> </a:t>
            </a:r>
            <a:r>
              <a:rPr dirty="0" sz="3350">
                <a:latin typeface="Arial"/>
                <a:cs typeface="Arial"/>
              </a:rPr>
              <a:t>fleets</a:t>
            </a:r>
            <a:r>
              <a:rPr dirty="0" sz="3350" spc="80">
                <a:latin typeface="Arial"/>
                <a:cs typeface="Arial"/>
              </a:rPr>
              <a:t> </a:t>
            </a:r>
            <a:r>
              <a:rPr dirty="0" sz="3350">
                <a:latin typeface="Arial"/>
                <a:cs typeface="Arial"/>
              </a:rPr>
              <a:t>get</a:t>
            </a:r>
            <a:r>
              <a:rPr dirty="0" sz="3350" spc="80">
                <a:latin typeface="Arial"/>
                <a:cs typeface="Arial"/>
              </a:rPr>
              <a:t> </a:t>
            </a:r>
            <a:r>
              <a:rPr dirty="0" sz="3350">
                <a:latin typeface="Arial"/>
                <a:cs typeface="Arial"/>
              </a:rPr>
              <a:t>14-16</a:t>
            </a:r>
            <a:r>
              <a:rPr dirty="0" sz="3350" spc="80">
                <a:latin typeface="Arial"/>
                <a:cs typeface="Arial"/>
              </a:rPr>
              <a:t> </a:t>
            </a:r>
            <a:r>
              <a:rPr dirty="0" sz="3350" spc="-25">
                <a:latin typeface="Arial"/>
                <a:cs typeface="Arial"/>
              </a:rPr>
              <a:t>mpg</a:t>
            </a:r>
            <a:endParaRPr sz="3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90880">
              <a:lnSpc>
                <a:spcPct val="100000"/>
              </a:lnSpc>
              <a:spcBef>
                <a:spcPts val="100"/>
              </a:spcBef>
            </a:pPr>
            <a:r>
              <a:rPr dirty="0"/>
              <a:t>Initial</a:t>
            </a:r>
            <a:r>
              <a:rPr dirty="0" spc="-25"/>
              <a:t> </a:t>
            </a:r>
            <a:r>
              <a:rPr dirty="0" spc="-10"/>
              <a:t>Service</a:t>
            </a:r>
            <a:r>
              <a:rPr dirty="0" spc="-280"/>
              <a:t> </a:t>
            </a:r>
            <a:r>
              <a:rPr dirty="0" spc="-20"/>
              <a:t>Area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4823" y="2638352"/>
            <a:ext cx="3745372" cy="3677521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85191" y="1838581"/>
            <a:ext cx="6844665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25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Central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SF</a:t>
            </a:r>
            <a:r>
              <a:rPr dirty="0" sz="2750" spc="5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to</a:t>
            </a:r>
            <a:r>
              <a:rPr dirty="0" sz="2750" spc="5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Start,</a:t>
            </a:r>
            <a:r>
              <a:rPr dirty="0" sz="2750" spc="6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Manhattan</a:t>
            </a:r>
            <a:r>
              <a:rPr dirty="0" sz="2750" spc="5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soon</a:t>
            </a:r>
            <a:r>
              <a:rPr dirty="0" sz="2750" spc="5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after</a:t>
            </a:r>
            <a:endParaRPr sz="27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654175">
              <a:lnSpc>
                <a:spcPct val="100000"/>
              </a:lnSpc>
              <a:spcBef>
                <a:spcPts val="100"/>
              </a:spcBef>
            </a:pPr>
            <a:r>
              <a:rPr dirty="0" spc="-535"/>
              <a:t>T</a:t>
            </a:r>
            <a:r>
              <a:rPr dirty="0"/>
              <a:t>e</a:t>
            </a:r>
            <a:r>
              <a:rPr dirty="0" spc="-5"/>
              <a:t>c</a:t>
            </a:r>
            <a:r>
              <a:rPr dirty="0"/>
              <a:t>hnology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85191" y="1797418"/>
            <a:ext cx="7296150" cy="135318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450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Mobile</a:t>
            </a:r>
            <a:r>
              <a:rPr dirty="0" sz="2750" spc="7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phones</a:t>
            </a:r>
            <a:r>
              <a:rPr dirty="0" sz="2750" spc="7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+</a:t>
            </a:r>
            <a:r>
              <a:rPr dirty="0" sz="2750" spc="6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intelligent</a:t>
            </a:r>
            <a:r>
              <a:rPr dirty="0" sz="2750" spc="70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scheduling</a:t>
            </a:r>
            <a:endParaRPr sz="2750">
              <a:latin typeface="Arial"/>
              <a:cs typeface="Arial"/>
            </a:endParaRPr>
          </a:p>
          <a:p>
            <a:pPr lvl="1" marL="935355" indent="-434340">
              <a:lnSpc>
                <a:spcPct val="100000"/>
              </a:lnSpc>
              <a:spcBef>
                <a:spcPts val="320"/>
              </a:spcBef>
              <a:buChar char="–"/>
              <a:tabLst>
                <a:tab pos="935355" algn="l"/>
              </a:tabLst>
            </a:pPr>
            <a:r>
              <a:rPr dirty="0" sz="2550">
                <a:latin typeface="Arial"/>
                <a:cs typeface="Arial"/>
              </a:rPr>
              <a:t>Applications</a:t>
            </a:r>
            <a:r>
              <a:rPr dirty="0" sz="2550" spc="-30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for</a:t>
            </a:r>
            <a:r>
              <a:rPr dirty="0" sz="2550" spc="-2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iphone,</a:t>
            </a:r>
            <a:r>
              <a:rPr dirty="0" sz="2550" spc="-35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blackberry,</a:t>
            </a:r>
            <a:r>
              <a:rPr dirty="0" sz="2550" spc="-35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symbian</a:t>
            </a:r>
            <a:endParaRPr sz="2550">
              <a:latin typeface="Arial"/>
              <a:cs typeface="Arial"/>
            </a:endParaRPr>
          </a:p>
          <a:p>
            <a:pPr lvl="1" marL="935355" indent="-434340">
              <a:lnSpc>
                <a:spcPct val="100000"/>
              </a:lnSpc>
              <a:spcBef>
                <a:spcPts val="360"/>
              </a:spcBef>
              <a:buChar char="–"/>
              <a:tabLst>
                <a:tab pos="935355" algn="l"/>
              </a:tabLst>
            </a:pPr>
            <a:r>
              <a:rPr dirty="0" sz="2550">
                <a:latin typeface="Arial"/>
                <a:cs typeface="Arial"/>
              </a:rPr>
              <a:t>Operations</a:t>
            </a:r>
            <a:r>
              <a:rPr dirty="0" sz="2550" spc="-1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research</a:t>
            </a:r>
            <a:r>
              <a:rPr dirty="0" sz="2550" spc="-1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for</a:t>
            </a:r>
            <a:r>
              <a:rPr dirty="0" sz="2550" spc="-1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route</a:t>
            </a:r>
            <a:r>
              <a:rPr dirty="0" sz="2550" spc="-15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optimization</a:t>
            </a:r>
            <a:endParaRPr sz="25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85191" y="5098140"/>
            <a:ext cx="6353810" cy="1002665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640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Payment/utilization/reputation</a:t>
            </a:r>
            <a:r>
              <a:rPr dirty="0" sz="2750" spc="26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tracking</a:t>
            </a:r>
            <a:endParaRPr sz="27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545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Patent-pending</a:t>
            </a:r>
            <a:r>
              <a:rPr dirty="0" sz="2750" spc="12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system</a:t>
            </a:r>
            <a:r>
              <a:rPr dirty="0" sz="2750" spc="12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design</a:t>
            </a:r>
            <a:endParaRPr sz="275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6967" y="3619950"/>
            <a:ext cx="4266468" cy="1352973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92430">
              <a:lnSpc>
                <a:spcPct val="100000"/>
              </a:lnSpc>
              <a:spcBef>
                <a:spcPts val="100"/>
              </a:spcBef>
            </a:pPr>
            <a:r>
              <a:rPr dirty="0"/>
              <a:t>Demand</a:t>
            </a:r>
            <a:r>
              <a:rPr dirty="0" spc="-40"/>
              <a:t> </a:t>
            </a:r>
            <a:r>
              <a:rPr dirty="0" spc="-10"/>
              <a:t>Forecasting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85191" y="1753316"/>
            <a:ext cx="8515350" cy="1383665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800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Cars</a:t>
            </a:r>
            <a:r>
              <a:rPr dirty="0" sz="2750" spc="6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hover</a:t>
            </a:r>
            <a:r>
              <a:rPr dirty="0" sz="2750" spc="6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in</a:t>
            </a:r>
            <a:r>
              <a:rPr dirty="0" sz="2750" spc="6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statistically</a:t>
            </a:r>
            <a:r>
              <a:rPr dirty="0" sz="2750" spc="6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optimized</a:t>
            </a:r>
            <a:r>
              <a:rPr dirty="0" sz="2750" spc="6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positions</a:t>
            </a:r>
            <a:endParaRPr sz="2750">
              <a:latin typeface="Arial"/>
              <a:cs typeface="Arial"/>
            </a:endParaRPr>
          </a:p>
          <a:p>
            <a:pPr marL="935355" marR="5080" indent="-434340">
              <a:lnSpc>
                <a:spcPts val="2990"/>
              </a:lnSpc>
              <a:spcBef>
                <a:spcPts val="795"/>
              </a:spcBef>
              <a:tabLst>
                <a:tab pos="935355" algn="l"/>
              </a:tabLst>
            </a:pPr>
            <a:r>
              <a:rPr dirty="0" sz="2550" spc="-50">
                <a:latin typeface="Arial"/>
                <a:cs typeface="Arial"/>
              </a:rPr>
              <a:t>–</a:t>
            </a:r>
            <a:r>
              <a:rPr dirty="0" sz="2550">
                <a:latin typeface="Arial"/>
                <a:cs typeface="Arial"/>
              </a:rPr>
              <a:t>	minimize</a:t>
            </a:r>
            <a:r>
              <a:rPr dirty="0" sz="2550" spc="-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expected</a:t>
            </a:r>
            <a:r>
              <a:rPr dirty="0" sz="2550" spc="-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pickup</a:t>
            </a:r>
            <a:r>
              <a:rPr dirty="0" sz="2550" spc="-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time</a:t>
            </a:r>
            <a:r>
              <a:rPr dirty="0" sz="2550" spc="-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given hour</a:t>
            </a:r>
            <a:r>
              <a:rPr dirty="0" sz="2550" spc="-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of</a:t>
            </a:r>
            <a:r>
              <a:rPr dirty="0" sz="2550" spc="-1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week</a:t>
            </a:r>
            <a:r>
              <a:rPr dirty="0" sz="2550" spc="-5">
                <a:latin typeface="Arial"/>
                <a:cs typeface="Arial"/>
              </a:rPr>
              <a:t> </a:t>
            </a:r>
            <a:r>
              <a:rPr dirty="0" sz="2550" spc="-50">
                <a:latin typeface="Arial"/>
                <a:cs typeface="Arial"/>
              </a:rPr>
              <a:t>&amp; </a:t>
            </a:r>
            <a:r>
              <a:rPr dirty="0" sz="2550">
                <a:latin typeface="Arial"/>
                <a:cs typeface="Arial"/>
              </a:rPr>
              <a:t>weather/traffic</a:t>
            </a:r>
            <a:r>
              <a:rPr dirty="0" sz="2550" spc="-100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conditions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1981" y="3561124"/>
            <a:ext cx="3989636" cy="2985442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19835">
              <a:lnSpc>
                <a:spcPct val="100000"/>
              </a:lnSpc>
              <a:spcBef>
                <a:spcPts val="100"/>
              </a:spcBef>
            </a:pPr>
            <a:r>
              <a:rPr dirty="0"/>
              <a:t>Overall</a:t>
            </a:r>
            <a:r>
              <a:rPr dirty="0" spc="-40"/>
              <a:t> </a:t>
            </a:r>
            <a:r>
              <a:rPr dirty="0" spc="-10"/>
              <a:t>Market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85191" y="1732734"/>
            <a:ext cx="7609840" cy="1083945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960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$4.2B</a:t>
            </a:r>
            <a:r>
              <a:rPr dirty="0" sz="2750" spc="5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annually</a:t>
            </a:r>
            <a:r>
              <a:rPr dirty="0" sz="2750" spc="7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and</a:t>
            </a:r>
            <a:r>
              <a:rPr dirty="0" sz="2750" spc="6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growing</a:t>
            </a:r>
            <a:endParaRPr sz="27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865"/>
              </a:spcBef>
              <a:buChar char="•"/>
              <a:tabLst>
                <a:tab pos="378460" algn="l"/>
              </a:tabLst>
            </a:pPr>
            <a:r>
              <a:rPr dirty="0" sz="2750" spc="-40">
                <a:latin typeface="Arial"/>
                <a:cs typeface="Arial"/>
              </a:rPr>
              <a:t>Top</a:t>
            </a:r>
            <a:r>
              <a:rPr dirty="0" sz="2750" spc="2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4</a:t>
            </a:r>
            <a:r>
              <a:rPr dirty="0" sz="2750" spc="3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players</a:t>
            </a:r>
            <a:r>
              <a:rPr dirty="0" sz="2750" spc="2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combined</a:t>
            </a:r>
            <a:r>
              <a:rPr dirty="0" sz="2750" spc="2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only</a:t>
            </a:r>
            <a:r>
              <a:rPr dirty="0" sz="2750" spc="2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22%</a:t>
            </a:r>
            <a:r>
              <a:rPr dirty="0" sz="2750" spc="3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of</a:t>
            </a:r>
            <a:r>
              <a:rPr dirty="0" sz="2750" spc="2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revenues</a:t>
            </a:r>
            <a:endParaRPr sz="275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4337" y="3583953"/>
            <a:ext cx="6546194" cy="2665337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2210" y="603693"/>
            <a:ext cx="5998845" cy="7423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60520" algn="l"/>
              </a:tabLst>
            </a:pPr>
            <a:r>
              <a:rPr dirty="0"/>
              <a:t>Composition</a:t>
            </a:r>
            <a:r>
              <a:rPr dirty="0" spc="-95"/>
              <a:t> </a:t>
            </a:r>
            <a:r>
              <a:rPr dirty="0" spc="-25"/>
              <a:t>of</a:t>
            </a:r>
            <a:r>
              <a:rPr dirty="0"/>
              <a:t>	</a:t>
            </a:r>
            <a:r>
              <a:rPr dirty="0" spc="-10"/>
              <a:t>Market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85191" y="1838581"/>
            <a:ext cx="6000750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25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Focus</a:t>
            </a:r>
            <a:r>
              <a:rPr dirty="0" sz="2750" spc="6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on</a:t>
            </a:r>
            <a:r>
              <a:rPr dirty="0" sz="2750" spc="7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Urban</a:t>
            </a:r>
            <a:r>
              <a:rPr dirty="0" sz="2750" spc="6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service</a:t>
            </a:r>
            <a:r>
              <a:rPr dirty="0" sz="2750" spc="6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on-</a:t>
            </a:r>
            <a:r>
              <a:rPr dirty="0" sz="2750" spc="-10">
                <a:latin typeface="Arial"/>
                <a:cs typeface="Arial"/>
              </a:rPr>
              <a:t>demand</a:t>
            </a:r>
            <a:endParaRPr sz="27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85191" y="5719655"/>
            <a:ext cx="2353310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25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2007</a:t>
            </a:r>
            <a:r>
              <a:rPr dirty="0" sz="2750" spc="6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Market</a:t>
            </a:r>
            <a:endParaRPr sz="275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6691" y="2570500"/>
            <a:ext cx="6813142" cy="2890451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2089" y="603693"/>
            <a:ext cx="3343910" cy="7423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37689" algn="l"/>
              </a:tabLst>
            </a:pPr>
            <a:r>
              <a:rPr dirty="0" spc="-455"/>
              <a:t>T</a:t>
            </a:r>
            <a:r>
              <a:rPr dirty="0" spc="80"/>
              <a:t>a</a:t>
            </a:r>
            <a:r>
              <a:rPr dirty="0" spc="75"/>
              <a:t>r</a:t>
            </a:r>
            <a:r>
              <a:rPr dirty="0" spc="80"/>
              <a:t>get</a:t>
            </a:r>
            <a:r>
              <a:rPr dirty="0"/>
              <a:t>	</a:t>
            </a:r>
            <a:r>
              <a:rPr dirty="0" spc="-10"/>
              <a:t>Cities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85191" y="1732734"/>
            <a:ext cx="7328534" cy="1553845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960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Focus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on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SF/NYC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to</a:t>
            </a:r>
            <a:r>
              <a:rPr dirty="0" sz="2750" spc="40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begin</a:t>
            </a:r>
            <a:endParaRPr sz="27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865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Expand</a:t>
            </a:r>
            <a:r>
              <a:rPr dirty="0" sz="2750" spc="2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to</a:t>
            </a:r>
            <a:r>
              <a:rPr dirty="0" sz="2750" spc="2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LA,</a:t>
            </a:r>
            <a:r>
              <a:rPr dirty="0" sz="2750" spc="2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Chicago,</a:t>
            </a:r>
            <a:r>
              <a:rPr dirty="0" sz="2750" spc="2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Houston,</a:t>
            </a:r>
            <a:r>
              <a:rPr dirty="0" sz="2750" spc="2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PA,</a:t>
            </a:r>
            <a:r>
              <a:rPr dirty="0" sz="2750" spc="20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Dallas</a:t>
            </a:r>
            <a:endParaRPr sz="2750">
              <a:latin typeface="Arial"/>
              <a:cs typeface="Arial"/>
            </a:endParaRPr>
          </a:p>
          <a:p>
            <a:pPr marL="501015">
              <a:lnSpc>
                <a:spcPct val="100000"/>
              </a:lnSpc>
              <a:spcBef>
                <a:spcPts val="640"/>
              </a:spcBef>
              <a:tabLst>
                <a:tab pos="935355" algn="l"/>
              </a:tabLst>
            </a:pPr>
            <a:r>
              <a:rPr dirty="0" sz="2550" spc="-50">
                <a:latin typeface="Arial"/>
                <a:cs typeface="Arial"/>
              </a:rPr>
              <a:t>–</a:t>
            </a:r>
            <a:r>
              <a:rPr dirty="0" sz="2550">
                <a:latin typeface="Arial"/>
                <a:cs typeface="Arial"/>
              </a:rPr>
              <a:t>	This</a:t>
            </a:r>
            <a:r>
              <a:rPr dirty="0" sz="2550" spc="-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covers</a:t>
            </a:r>
            <a:r>
              <a:rPr dirty="0" sz="2550" spc="-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50%</a:t>
            </a:r>
            <a:r>
              <a:rPr dirty="0" sz="2550" spc="-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of</a:t>
            </a:r>
            <a:r>
              <a:rPr dirty="0" sz="2550" spc="-1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entire</a:t>
            </a:r>
            <a:r>
              <a:rPr dirty="0" sz="2550" spc="-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US</a:t>
            </a:r>
            <a:r>
              <a:rPr dirty="0" sz="2550" spc="-5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market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0016" y="3747500"/>
            <a:ext cx="5240165" cy="290382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54990">
              <a:lnSpc>
                <a:spcPct val="100000"/>
              </a:lnSpc>
              <a:spcBef>
                <a:spcPts val="100"/>
              </a:spcBef>
            </a:pPr>
            <a:r>
              <a:rPr dirty="0"/>
              <a:t>Potential</a:t>
            </a:r>
            <a:r>
              <a:rPr dirty="0" spc="-40"/>
              <a:t> </a:t>
            </a:r>
            <a:r>
              <a:rPr dirty="0" spc="-10"/>
              <a:t>Outcomes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85191" y="1753316"/>
            <a:ext cx="7890509" cy="3948429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800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Best-Case</a:t>
            </a:r>
            <a:r>
              <a:rPr dirty="0" sz="2750" spc="10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Scenario</a:t>
            </a:r>
            <a:endParaRPr sz="2750">
              <a:latin typeface="Arial"/>
              <a:cs typeface="Arial"/>
            </a:endParaRPr>
          </a:p>
          <a:p>
            <a:pPr lvl="1" marL="935355" indent="-434340">
              <a:lnSpc>
                <a:spcPct val="100000"/>
              </a:lnSpc>
              <a:spcBef>
                <a:spcPts val="640"/>
              </a:spcBef>
              <a:buChar char="–"/>
              <a:tabLst>
                <a:tab pos="935355" algn="l"/>
              </a:tabLst>
            </a:pPr>
            <a:r>
              <a:rPr dirty="0" sz="2550">
                <a:latin typeface="Arial"/>
                <a:cs typeface="Arial"/>
              </a:rPr>
              <a:t>Becomes</a:t>
            </a:r>
            <a:r>
              <a:rPr dirty="0" sz="2550" spc="-3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market</a:t>
            </a:r>
            <a:r>
              <a:rPr dirty="0" sz="2550" spc="-40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leader,</a:t>
            </a:r>
            <a:r>
              <a:rPr dirty="0" sz="2550" spc="-40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$1B+</a:t>
            </a:r>
            <a:r>
              <a:rPr dirty="0" sz="2550" spc="-30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in</a:t>
            </a:r>
            <a:r>
              <a:rPr dirty="0" sz="2550" spc="-30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yearly</a:t>
            </a:r>
            <a:r>
              <a:rPr dirty="0" sz="2550" spc="-30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revenue</a:t>
            </a:r>
            <a:endParaRPr sz="25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905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Realistic</a:t>
            </a:r>
            <a:r>
              <a:rPr dirty="0" sz="2750" spc="7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Success</a:t>
            </a:r>
            <a:r>
              <a:rPr dirty="0" sz="2750" spc="80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Scenario</a:t>
            </a:r>
            <a:endParaRPr sz="2750">
              <a:latin typeface="Arial"/>
              <a:cs typeface="Arial"/>
            </a:endParaRPr>
          </a:p>
          <a:p>
            <a:pPr lvl="1" marL="935355" indent="-434340">
              <a:lnSpc>
                <a:spcPct val="100000"/>
              </a:lnSpc>
              <a:spcBef>
                <a:spcPts val="640"/>
              </a:spcBef>
              <a:buChar char="–"/>
              <a:tabLst>
                <a:tab pos="935355" algn="l"/>
              </a:tabLst>
            </a:pPr>
            <a:r>
              <a:rPr dirty="0" sz="2550">
                <a:latin typeface="Arial"/>
                <a:cs typeface="Arial"/>
              </a:rPr>
              <a:t>Gets</a:t>
            </a:r>
            <a:r>
              <a:rPr dirty="0" sz="2550" spc="-10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5%</a:t>
            </a:r>
            <a:r>
              <a:rPr dirty="0" sz="2550" spc="-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of</a:t>
            </a:r>
            <a:r>
              <a:rPr dirty="0" sz="2550" spc="-1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the</a:t>
            </a:r>
            <a:r>
              <a:rPr dirty="0" sz="2550" spc="-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top</a:t>
            </a:r>
            <a:r>
              <a:rPr dirty="0" sz="2550" spc="-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5</a:t>
            </a:r>
            <a:r>
              <a:rPr dirty="0" sz="2550" spc="-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US</a:t>
            </a:r>
            <a:r>
              <a:rPr dirty="0" sz="2550" spc="-5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Cities</a:t>
            </a:r>
            <a:endParaRPr sz="2550">
              <a:latin typeface="Arial"/>
              <a:cs typeface="Arial"/>
            </a:endParaRPr>
          </a:p>
          <a:p>
            <a:pPr lvl="1" marL="935355" indent="-434340">
              <a:lnSpc>
                <a:spcPct val="100000"/>
              </a:lnSpc>
              <a:spcBef>
                <a:spcPts val="680"/>
              </a:spcBef>
              <a:buChar char="–"/>
              <a:tabLst>
                <a:tab pos="935355" algn="l"/>
              </a:tabLst>
            </a:pPr>
            <a:r>
              <a:rPr dirty="0" sz="2550">
                <a:latin typeface="Arial"/>
                <a:cs typeface="Arial"/>
              </a:rPr>
              <a:t>Generates</a:t>
            </a:r>
            <a:r>
              <a:rPr dirty="0" sz="2550" spc="-15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20-</a:t>
            </a:r>
            <a:r>
              <a:rPr dirty="0" sz="2550">
                <a:latin typeface="Arial"/>
                <a:cs typeface="Arial"/>
              </a:rPr>
              <a:t>30M+</a:t>
            </a:r>
            <a:r>
              <a:rPr dirty="0" sz="2550" spc="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per</a:t>
            </a:r>
            <a:r>
              <a:rPr dirty="0" sz="2550" spc="-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year</a:t>
            </a:r>
            <a:r>
              <a:rPr dirty="0" sz="2550" spc="5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profit</a:t>
            </a:r>
            <a:endParaRPr sz="25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800"/>
              </a:spcBef>
              <a:buChar char="•"/>
              <a:tabLst>
                <a:tab pos="378460" algn="l"/>
              </a:tabLst>
            </a:pPr>
            <a:r>
              <a:rPr dirty="0" sz="2750" spc="-10">
                <a:latin typeface="Arial"/>
                <a:cs typeface="Arial"/>
              </a:rPr>
              <a:t>Worst-</a:t>
            </a:r>
            <a:r>
              <a:rPr dirty="0" sz="2750">
                <a:latin typeface="Arial"/>
                <a:cs typeface="Arial"/>
              </a:rPr>
              <a:t>Case</a:t>
            </a:r>
            <a:r>
              <a:rPr dirty="0" sz="2750" spc="10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Scenario</a:t>
            </a:r>
            <a:endParaRPr sz="2750">
              <a:latin typeface="Arial"/>
              <a:cs typeface="Arial"/>
            </a:endParaRPr>
          </a:p>
          <a:p>
            <a:pPr lvl="1" marL="935355" indent="-434340">
              <a:lnSpc>
                <a:spcPct val="100000"/>
              </a:lnSpc>
              <a:spcBef>
                <a:spcPts val="640"/>
              </a:spcBef>
              <a:buChar char="–"/>
              <a:tabLst>
                <a:tab pos="935355" algn="l"/>
              </a:tabLst>
            </a:pPr>
            <a:r>
              <a:rPr dirty="0" sz="2550">
                <a:latin typeface="Arial"/>
                <a:cs typeface="Arial"/>
              </a:rPr>
              <a:t>Remains</a:t>
            </a:r>
            <a:r>
              <a:rPr dirty="0" sz="2550" spc="-2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a</a:t>
            </a:r>
            <a:r>
              <a:rPr dirty="0" sz="2550" spc="-20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10</a:t>
            </a:r>
            <a:r>
              <a:rPr dirty="0" sz="2550" spc="-20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car,</a:t>
            </a:r>
            <a:r>
              <a:rPr dirty="0" sz="2550" spc="-3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100</a:t>
            </a:r>
            <a:r>
              <a:rPr dirty="0" sz="2550" spc="-20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client</a:t>
            </a:r>
            <a:r>
              <a:rPr dirty="0" sz="2550" spc="-30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service</a:t>
            </a:r>
            <a:r>
              <a:rPr dirty="0" sz="2550" spc="-2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in</a:t>
            </a:r>
            <a:r>
              <a:rPr dirty="0" sz="2550" spc="-20">
                <a:latin typeface="Arial"/>
                <a:cs typeface="Arial"/>
              </a:rPr>
              <a:t> </a:t>
            </a:r>
            <a:r>
              <a:rPr dirty="0" sz="2550" spc="-25">
                <a:latin typeface="Arial"/>
                <a:cs typeface="Arial"/>
              </a:rPr>
              <a:t>SF</a:t>
            </a:r>
            <a:endParaRPr sz="2550">
              <a:latin typeface="Arial"/>
              <a:cs typeface="Arial"/>
            </a:endParaRPr>
          </a:p>
          <a:p>
            <a:pPr lvl="1" marL="935355" indent="-434340">
              <a:lnSpc>
                <a:spcPct val="100000"/>
              </a:lnSpc>
              <a:spcBef>
                <a:spcPts val="680"/>
              </a:spcBef>
              <a:buChar char="–"/>
              <a:tabLst>
                <a:tab pos="935355" algn="l"/>
              </a:tabLst>
            </a:pPr>
            <a:r>
              <a:rPr dirty="0" sz="2550" spc="-30">
                <a:latin typeface="Arial"/>
                <a:cs typeface="Arial"/>
              </a:rPr>
              <a:t>Time-</a:t>
            </a:r>
            <a:r>
              <a:rPr dirty="0" sz="2550">
                <a:latin typeface="Arial"/>
                <a:cs typeface="Arial"/>
              </a:rPr>
              <a:t>saver</a:t>
            </a:r>
            <a:r>
              <a:rPr dirty="0" sz="2550" spc="10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for</a:t>
            </a:r>
            <a:r>
              <a:rPr dirty="0" sz="2550" spc="10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San-</a:t>
            </a:r>
            <a:r>
              <a:rPr dirty="0" sz="2550">
                <a:latin typeface="Arial"/>
                <a:cs typeface="Arial"/>
              </a:rPr>
              <a:t>Francisco</a:t>
            </a:r>
            <a:r>
              <a:rPr dirty="0" sz="2550" spc="5">
                <a:latin typeface="Arial"/>
                <a:cs typeface="Arial"/>
              </a:rPr>
              <a:t> </a:t>
            </a:r>
            <a:r>
              <a:rPr dirty="0" sz="2550">
                <a:latin typeface="Arial"/>
                <a:cs typeface="Arial"/>
              </a:rPr>
              <a:t>based</a:t>
            </a:r>
            <a:r>
              <a:rPr dirty="0" sz="2550" spc="10">
                <a:latin typeface="Arial"/>
                <a:cs typeface="Arial"/>
              </a:rPr>
              <a:t> </a:t>
            </a:r>
            <a:r>
              <a:rPr dirty="0" sz="2550" spc="-10">
                <a:latin typeface="Arial"/>
                <a:cs typeface="Arial"/>
              </a:rPr>
              <a:t>executives</a:t>
            </a:r>
            <a:endParaRPr sz="2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SmartPhones,</a:t>
            </a:r>
            <a:r>
              <a:rPr dirty="0" spc="-290"/>
              <a:t> </a:t>
            </a:r>
            <a:r>
              <a:rPr dirty="0" spc="-10"/>
              <a:t>Aug2008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4823" y="4388906"/>
            <a:ext cx="4328891" cy="233407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93350" y="1634158"/>
            <a:ext cx="3351837" cy="2510485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05765">
              <a:lnSpc>
                <a:spcPct val="100000"/>
              </a:lnSpc>
              <a:spcBef>
                <a:spcPts val="100"/>
              </a:spcBef>
            </a:pPr>
            <a:r>
              <a:rPr dirty="0"/>
              <a:t>Future</a:t>
            </a:r>
            <a:r>
              <a:rPr dirty="0" spc="-45"/>
              <a:t> </a:t>
            </a:r>
            <a:r>
              <a:rPr dirty="0" spc="-10"/>
              <a:t>Optimizations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85191" y="1732734"/>
            <a:ext cx="8340725" cy="3187700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960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Cheaper</a:t>
            </a:r>
            <a:r>
              <a:rPr dirty="0" sz="2750" spc="6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cars</a:t>
            </a:r>
            <a:r>
              <a:rPr dirty="0" sz="2750" spc="6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by</a:t>
            </a:r>
            <a:r>
              <a:rPr dirty="0" sz="2750" spc="6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buying</a:t>
            </a:r>
            <a:r>
              <a:rPr dirty="0" sz="2750" spc="55">
                <a:latin typeface="Arial"/>
                <a:cs typeface="Arial"/>
              </a:rPr>
              <a:t> </a:t>
            </a:r>
            <a:r>
              <a:rPr dirty="0" sz="2750" spc="-20">
                <a:latin typeface="Arial"/>
                <a:cs typeface="Arial"/>
              </a:rPr>
              <a:t>used</a:t>
            </a:r>
            <a:endParaRPr sz="27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865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Less</a:t>
            </a:r>
            <a:r>
              <a:rPr dirty="0" sz="2750" spc="6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expensive</a:t>
            </a:r>
            <a:r>
              <a:rPr dirty="0" sz="2750" spc="7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hybrid</a:t>
            </a:r>
            <a:r>
              <a:rPr dirty="0" sz="2750" spc="7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vehicles</a:t>
            </a:r>
            <a:r>
              <a:rPr dirty="0" sz="2750" spc="7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(prius)</a:t>
            </a:r>
            <a:endParaRPr sz="27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869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More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accurate</a:t>
            </a:r>
            <a:r>
              <a:rPr dirty="0" sz="2750" spc="6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GPS</a:t>
            </a:r>
            <a:r>
              <a:rPr dirty="0" sz="2750" spc="55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technology</a:t>
            </a:r>
            <a:endParaRPr sz="27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760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Discounted</a:t>
            </a:r>
            <a:r>
              <a:rPr dirty="0" sz="2750" spc="5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rates</a:t>
            </a:r>
            <a:r>
              <a:rPr dirty="0" sz="2750" spc="6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for</a:t>
            </a:r>
            <a:r>
              <a:rPr dirty="0" sz="2750" spc="6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Sun-Tues</a:t>
            </a:r>
            <a:r>
              <a:rPr dirty="0" sz="2750" spc="6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multi-hour</a:t>
            </a:r>
            <a:r>
              <a:rPr dirty="0" sz="2750" spc="60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bookings</a:t>
            </a:r>
            <a:endParaRPr sz="27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865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Pay</a:t>
            </a:r>
            <a:r>
              <a:rPr dirty="0" sz="2750" spc="7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premium</a:t>
            </a:r>
            <a:r>
              <a:rPr dirty="0" sz="2750" spc="7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for</a:t>
            </a:r>
            <a:r>
              <a:rPr dirty="0" sz="2750" spc="8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on-demand</a:t>
            </a:r>
            <a:r>
              <a:rPr dirty="0" sz="2750" spc="80">
                <a:latin typeface="Arial"/>
                <a:cs typeface="Arial"/>
              </a:rPr>
              <a:t> </a:t>
            </a:r>
            <a:r>
              <a:rPr dirty="0" sz="2750" spc="-10">
                <a:latin typeface="Arial"/>
                <a:cs typeface="Arial"/>
              </a:rPr>
              <a:t>service</a:t>
            </a:r>
            <a:endParaRPr sz="275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869"/>
              </a:spcBef>
              <a:buChar char="•"/>
              <a:tabLst>
                <a:tab pos="378460" algn="l"/>
              </a:tabLst>
            </a:pPr>
            <a:r>
              <a:rPr dirty="0" sz="2750">
                <a:latin typeface="Arial"/>
                <a:cs typeface="Arial"/>
              </a:rPr>
              <a:t>“get</a:t>
            </a:r>
            <a:r>
              <a:rPr dirty="0" sz="2750" spc="4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here</a:t>
            </a:r>
            <a:r>
              <a:rPr dirty="0" sz="2750" spc="5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now”</a:t>
            </a:r>
            <a:r>
              <a:rPr dirty="0" sz="2750" spc="5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costs</a:t>
            </a:r>
            <a:r>
              <a:rPr dirty="0" sz="2750" spc="50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more</a:t>
            </a:r>
            <a:r>
              <a:rPr dirty="0" sz="2750" spc="5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than</a:t>
            </a:r>
            <a:r>
              <a:rPr dirty="0" sz="2750" spc="5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“tomorrow</a:t>
            </a:r>
            <a:r>
              <a:rPr dirty="0" sz="2750" spc="55">
                <a:latin typeface="Arial"/>
                <a:cs typeface="Arial"/>
              </a:rPr>
              <a:t> </a:t>
            </a:r>
            <a:r>
              <a:rPr dirty="0" sz="2750">
                <a:latin typeface="Arial"/>
                <a:cs typeface="Arial"/>
              </a:rPr>
              <a:t>at</a:t>
            </a:r>
            <a:r>
              <a:rPr dirty="0" sz="2750" spc="55">
                <a:latin typeface="Arial"/>
                <a:cs typeface="Arial"/>
              </a:rPr>
              <a:t> </a:t>
            </a:r>
            <a:r>
              <a:rPr dirty="0" sz="2750" spc="-20">
                <a:latin typeface="Arial"/>
                <a:cs typeface="Arial"/>
              </a:rPr>
              <a:t>5pm”</a:t>
            </a:r>
            <a:endParaRPr sz="2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29969">
              <a:lnSpc>
                <a:spcPct val="100000"/>
              </a:lnSpc>
              <a:spcBef>
                <a:spcPts val="100"/>
              </a:spcBef>
            </a:pPr>
            <a:r>
              <a:rPr dirty="0"/>
              <a:t>Marketing</a:t>
            </a:r>
            <a:r>
              <a:rPr dirty="0" spc="-35"/>
              <a:t> </a:t>
            </a:r>
            <a:r>
              <a:rPr dirty="0" spc="-10"/>
              <a:t>Ideas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6835" rIns="0" bIns="0" rtlCol="0" vert="horz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605"/>
              </a:spcBef>
              <a:buChar char="•"/>
              <a:tabLst>
                <a:tab pos="378460" algn="l"/>
              </a:tabLst>
            </a:pPr>
            <a:r>
              <a:rPr dirty="0"/>
              <a:t>YellowCab</a:t>
            </a:r>
            <a:r>
              <a:rPr dirty="0" spc="10"/>
              <a:t> </a:t>
            </a:r>
            <a:r>
              <a:rPr dirty="0"/>
              <a:t>is</a:t>
            </a:r>
            <a:r>
              <a:rPr dirty="0" spc="10"/>
              <a:t> </a:t>
            </a:r>
            <a:r>
              <a:rPr dirty="0"/>
              <a:t>the</a:t>
            </a:r>
            <a:r>
              <a:rPr dirty="0" spc="10"/>
              <a:t> </a:t>
            </a:r>
            <a:r>
              <a:rPr dirty="0"/>
              <a:t>only</a:t>
            </a:r>
            <a:r>
              <a:rPr dirty="0" spc="10"/>
              <a:t> </a:t>
            </a:r>
            <a:r>
              <a:rPr dirty="0"/>
              <a:t>recognizable</a:t>
            </a:r>
            <a:r>
              <a:rPr dirty="0" spc="10"/>
              <a:t> </a:t>
            </a:r>
            <a:r>
              <a:rPr dirty="0" spc="-10"/>
              <a:t>brand</a:t>
            </a:r>
          </a:p>
          <a:p>
            <a:pPr marL="501015">
              <a:lnSpc>
                <a:spcPct val="100000"/>
              </a:lnSpc>
              <a:spcBef>
                <a:spcPts val="509"/>
              </a:spcBef>
              <a:tabLst>
                <a:tab pos="935355" algn="l"/>
              </a:tabLst>
            </a:pPr>
            <a:r>
              <a:rPr dirty="0" sz="3000" spc="-50"/>
              <a:t>–</a:t>
            </a:r>
            <a:r>
              <a:rPr dirty="0" sz="3000"/>
              <a:t>	Become</a:t>
            </a:r>
            <a:r>
              <a:rPr dirty="0" sz="3000" spc="-75"/>
              <a:t> </a:t>
            </a:r>
            <a:r>
              <a:rPr dirty="0" sz="3000"/>
              <a:t>the</a:t>
            </a:r>
            <a:r>
              <a:rPr dirty="0" sz="3000" spc="-75"/>
              <a:t> </a:t>
            </a:r>
            <a:r>
              <a:rPr dirty="0" sz="3000"/>
              <a:t>ubiquitous</a:t>
            </a:r>
            <a:r>
              <a:rPr dirty="0" sz="3000" spc="-70"/>
              <a:t> </a:t>
            </a:r>
            <a:r>
              <a:rPr dirty="0" sz="3000"/>
              <a:t>“premium”</a:t>
            </a:r>
            <a:r>
              <a:rPr dirty="0" sz="3000" spc="-75"/>
              <a:t> </a:t>
            </a:r>
            <a:r>
              <a:rPr dirty="0" sz="3000"/>
              <a:t>cab</a:t>
            </a:r>
            <a:r>
              <a:rPr dirty="0" sz="3000" spc="-70"/>
              <a:t> </a:t>
            </a:r>
            <a:r>
              <a:rPr dirty="0" sz="3000" spc="-10"/>
              <a:t>service</a:t>
            </a:r>
            <a:endParaRPr sz="3000"/>
          </a:p>
          <a:p>
            <a:pPr marL="378460" indent="-365760">
              <a:lnSpc>
                <a:spcPct val="100000"/>
              </a:lnSpc>
              <a:spcBef>
                <a:spcPts val="919"/>
              </a:spcBef>
              <a:buChar char="•"/>
              <a:tabLst>
                <a:tab pos="378460" algn="l"/>
              </a:tabLst>
            </a:pPr>
            <a:r>
              <a:rPr dirty="0"/>
              <a:t>Invite</a:t>
            </a:r>
            <a:r>
              <a:rPr dirty="0" spc="20"/>
              <a:t> </a:t>
            </a:r>
            <a:r>
              <a:rPr dirty="0"/>
              <a:t>Only,</a:t>
            </a:r>
            <a:r>
              <a:rPr dirty="0" spc="15"/>
              <a:t> </a:t>
            </a:r>
            <a:r>
              <a:rPr dirty="0"/>
              <a:t>referred</a:t>
            </a:r>
            <a:r>
              <a:rPr dirty="0" spc="20"/>
              <a:t> </a:t>
            </a:r>
            <a:r>
              <a:rPr dirty="0"/>
              <a:t>from</a:t>
            </a:r>
            <a:r>
              <a:rPr dirty="0" spc="20"/>
              <a:t> </a:t>
            </a:r>
            <a:r>
              <a:rPr dirty="0"/>
              <a:t>an</a:t>
            </a:r>
            <a:r>
              <a:rPr dirty="0" spc="20"/>
              <a:t> </a:t>
            </a:r>
            <a:r>
              <a:rPr dirty="0"/>
              <a:t>existing</a:t>
            </a:r>
            <a:r>
              <a:rPr dirty="0" spc="15"/>
              <a:t> </a:t>
            </a:r>
            <a:r>
              <a:rPr dirty="0" spc="-10"/>
              <a:t>member</a:t>
            </a:r>
          </a:p>
          <a:p>
            <a:pPr marL="378460" indent="-365760">
              <a:lnSpc>
                <a:spcPct val="100000"/>
              </a:lnSpc>
              <a:spcBef>
                <a:spcPts val="765"/>
              </a:spcBef>
              <a:buChar char="•"/>
              <a:tabLst>
                <a:tab pos="378460" algn="l"/>
              </a:tabLst>
            </a:pPr>
            <a:r>
              <a:rPr dirty="0"/>
              <a:t>Possible</a:t>
            </a:r>
            <a:r>
              <a:rPr dirty="0" spc="60"/>
              <a:t> </a:t>
            </a:r>
            <a:r>
              <a:rPr dirty="0"/>
              <a:t>slogan:</a:t>
            </a:r>
            <a:r>
              <a:rPr dirty="0" spc="10"/>
              <a:t> </a:t>
            </a:r>
            <a:r>
              <a:rPr dirty="0"/>
              <a:t>The</a:t>
            </a:r>
            <a:r>
              <a:rPr dirty="0" spc="70"/>
              <a:t> </a:t>
            </a:r>
            <a:r>
              <a:rPr dirty="0"/>
              <a:t>One-click</a:t>
            </a:r>
            <a:r>
              <a:rPr dirty="0" spc="70"/>
              <a:t> </a:t>
            </a:r>
            <a:r>
              <a:rPr dirty="0" spc="-25"/>
              <a:t>cab</a:t>
            </a:r>
          </a:p>
          <a:p>
            <a:pPr marL="378460" indent="-365760">
              <a:lnSpc>
                <a:spcPct val="100000"/>
              </a:lnSpc>
              <a:spcBef>
                <a:spcPts val="865"/>
              </a:spcBef>
              <a:buChar char="•"/>
              <a:tabLst>
                <a:tab pos="378460" algn="l"/>
              </a:tabLst>
            </a:pPr>
            <a:r>
              <a:rPr dirty="0"/>
              <a:t>The</a:t>
            </a:r>
            <a:r>
              <a:rPr dirty="0" spc="35"/>
              <a:t> </a:t>
            </a:r>
            <a:r>
              <a:rPr dirty="0"/>
              <a:t>NetJets</a:t>
            </a:r>
            <a:r>
              <a:rPr dirty="0" spc="4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 spc="-10"/>
              <a:t>Limos</a:t>
            </a:r>
          </a:p>
          <a:p>
            <a:pPr marL="378460" indent="-365760">
              <a:lnSpc>
                <a:spcPct val="100000"/>
              </a:lnSpc>
              <a:spcBef>
                <a:spcPts val="865"/>
              </a:spcBef>
              <a:buChar char="•"/>
              <a:tabLst>
                <a:tab pos="378460" algn="l"/>
              </a:tabLst>
            </a:pPr>
            <a:r>
              <a:rPr dirty="0" spc="-10"/>
              <a:t>Cabs2.0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Location-</a:t>
            </a:r>
            <a:r>
              <a:rPr dirty="0"/>
              <a:t>Based</a:t>
            </a:r>
            <a:r>
              <a:rPr dirty="0" spc="50"/>
              <a:t> </a:t>
            </a:r>
            <a:r>
              <a:rPr dirty="0" spc="-10"/>
              <a:t>Service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85191" y="1825010"/>
            <a:ext cx="8508365" cy="88074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78460" indent="-365760">
              <a:lnSpc>
                <a:spcPts val="3635"/>
              </a:lnSpc>
              <a:spcBef>
                <a:spcPts val="95"/>
              </a:spcBef>
              <a:buChar char="•"/>
              <a:tabLst>
                <a:tab pos="378460" algn="l"/>
              </a:tabLst>
            </a:pPr>
            <a:r>
              <a:rPr dirty="0" sz="3100">
                <a:latin typeface="Arial"/>
                <a:cs typeface="Arial"/>
              </a:rPr>
              <a:t>Extend</a:t>
            </a:r>
            <a:r>
              <a:rPr dirty="0" sz="3100" spc="-8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infrastructure</a:t>
            </a:r>
            <a:r>
              <a:rPr dirty="0" sz="3100" spc="-8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to</a:t>
            </a:r>
            <a:r>
              <a:rPr dirty="0" sz="3100" spc="-8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other</a:t>
            </a:r>
            <a:r>
              <a:rPr dirty="0" sz="3100" spc="-8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LBS</a:t>
            </a:r>
            <a:r>
              <a:rPr dirty="0" sz="3100" spc="-80">
                <a:latin typeface="Arial"/>
                <a:cs typeface="Arial"/>
              </a:rPr>
              <a:t> </a:t>
            </a:r>
            <a:r>
              <a:rPr dirty="0" sz="3100" spc="-10">
                <a:latin typeface="Arial"/>
                <a:cs typeface="Arial"/>
              </a:rPr>
              <a:t>applications</a:t>
            </a:r>
            <a:endParaRPr sz="3100">
              <a:latin typeface="Arial"/>
              <a:cs typeface="Arial"/>
            </a:endParaRPr>
          </a:p>
          <a:p>
            <a:pPr marL="501015">
              <a:lnSpc>
                <a:spcPts val="3095"/>
              </a:lnSpc>
            </a:pPr>
            <a:r>
              <a:rPr dirty="0" sz="2650">
                <a:latin typeface="Arial"/>
                <a:cs typeface="Arial"/>
              </a:rPr>
              <a:t>–</a:t>
            </a:r>
            <a:r>
              <a:rPr dirty="0" sz="2650" spc="10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Delivery,</a:t>
            </a:r>
            <a:r>
              <a:rPr dirty="0" sz="2650" spc="-20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non-</a:t>
            </a:r>
            <a:r>
              <a:rPr dirty="0" sz="2650">
                <a:latin typeface="Arial"/>
                <a:cs typeface="Arial"/>
              </a:rPr>
              <a:t>critical</a:t>
            </a:r>
            <a:r>
              <a:rPr dirty="0" sz="2650" spc="-2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medical/governmental</a:t>
            </a:r>
            <a:r>
              <a:rPr dirty="0" sz="2650" spc="-15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use</a:t>
            </a:r>
            <a:endParaRPr sz="26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85191" y="5855357"/>
            <a:ext cx="6758305" cy="497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95"/>
              </a:spcBef>
              <a:buChar char="•"/>
              <a:tabLst>
                <a:tab pos="378460" algn="l"/>
              </a:tabLst>
            </a:pPr>
            <a:r>
              <a:rPr dirty="0" sz="3100">
                <a:latin typeface="Arial"/>
                <a:cs typeface="Arial"/>
              </a:rPr>
              <a:t>Growing</a:t>
            </a:r>
            <a:r>
              <a:rPr dirty="0" sz="3100" spc="-6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to</a:t>
            </a:r>
            <a:r>
              <a:rPr dirty="0" sz="3100" spc="-6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a</a:t>
            </a:r>
            <a:r>
              <a:rPr dirty="0" sz="3100" spc="-6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$3.5B</a:t>
            </a:r>
            <a:r>
              <a:rPr dirty="0" sz="3100" spc="-6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industry</a:t>
            </a:r>
            <a:r>
              <a:rPr dirty="0" sz="3100" spc="-6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by</a:t>
            </a:r>
            <a:r>
              <a:rPr dirty="0" sz="3100" spc="-60">
                <a:latin typeface="Arial"/>
                <a:cs typeface="Arial"/>
              </a:rPr>
              <a:t> </a:t>
            </a:r>
            <a:r>
              <a:rPr dirty="0" sz="3100" spc="-20">
                <a:latin typeface="Arial"/>
                <a:cs typeface="Arial"/>
              </a:rPr>
              <a:t>2010</a:t>
            </a:r>
            <a:endParaRPr sz="31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7614" y="2991177"/>
            <a:ext cx="2296166" cy="2640962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21385">
              <a:lnSpc>
                <a:spcPct val="100000"/>
              </a:lnSpc>
              <a:spcBef>
                <a:spcPts val="100"/>
              </a:spcBef>
            </a:pPr>
            <a:r>
              <a:rPr dirty="0"/>
              <a:t>Progress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-10"/>
              <a:t> </a:t>
            </a:r>
            <a:r>
              <a:rPr dirty="0" spc="-20"/>
              <a:t>Date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85191" y="1768016"/>
            <a:ext cx="8430260" cy="427609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545"/>
              </a:spcBef>
              <a:buChar char="•"/>
              <a:tabLst>
                <a:tab pos="378460" algn="l"/>
              </a:tabLst>
            </a:pPr>
            <a:r>
              <a:rPr dirty="0" sz="3100">
                <a:latin typeface="Arial"/>
                <a:cs typeface="Arial"/>
              </a:rPr>
              <a:t>Ubercab.com</a:t>
            </a:r>
            <a:r>
              <a:rPr dirty="0" sz="3100" spc="-10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reserved</a:t>
            </a:r>
            <a:r>
              <a:rPr dirty="0" sz="3100" spc="-10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+</a:t>
            </a:r>
            <a:r>
              <a:rPr dirty="0" sz="3100" spc="-10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“ubercab”</a:t>
            </a:r>
            <a:r>
              <a:rPr dirty="0" sz="3100" spc="-10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SMS</a:t>
            </a:r>
            <a:r>
              <a:rPr dirty="0" sz="3100" spc="-100">
                <a:latin typeface="Arial"/>
                <a:cs typeface="Arial"/>
              </a:rPr>
              <a:t> </a:t>
            </a:r>
            <a:r>
              <a:rPr dirty="0" sz="3100" spc="-20">
                <a:latin typeface="Arial"/>
                <a:cs typeface="Arial"/>
              </a:rPr>
              <a:t>code</a:t>
            </a:r>
            <a:endParaRPr sz="310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450"/>
              </a:spcBef>
              <a:buChar char="•"/>
              <a:tabLst>
                <a:tab pos="378460" algn="l"/>
              </a:tabLst>
            </a:pPr>
            <a:r>
              <a:rPr dirty="0" sz="3100">
                <a:latin typeface="Arial"/>
                <a:cs typeface="Arial"/>
              </a:rPr>
              <a:t>California</a:t>
            </a:r>
            <a:r>
              <a:rPr dirty="0" sz="3100" spc="-8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LLC</a:t>
            </a:r>
            <a:r>
              <a:rPr dirty="0" sz="3100" spc="-8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+</a:t>
            </a:r>
            <a:r>
              <a:rPr dirty="0" sz="3100" spc="-8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trademark</a:t>
            </a:r>
            <a:r>
              <a:rPr dirty="0" sz="3100" spc="-85">
                <a:latin typeface="Arial"/>
                <a:cs typeface="Arial"/>
              </a:rPr>
              <a:t> </a:t>
            </a:r>
            <a:r>
              <a:rPr dirty="0" sz="3100" spc="-10">
                <a:latin typeface="Arial"/>
                <a:cs typeface="Arial"/>
              </a:rPr>
              <a:t>filed</a:t>
            </a:r>
            <a:endParaRPr sz="310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550"/>
              </a:spcBef>
              <a:buChar char="•"/>
              <a:tabLst>
                <a:tab pos="378460" algn="l"/>
              </a:tabLst>
            </a:pPr>
            <a:r>
              <a:rPr dirty="0" sz="3100">
                <a:latin typeface="Arial"/>
                <a:cs typeface="Arial"/>
              </a:rPr>
              <a:t>Iphone</a:t>
            </a:r>
            <a:r>
              <a:rPr dirty="0" sz="3100" spc="-8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dev</a:t>
            </a:r>
            <a:r>
              <a:rPr dirty="0" sz="3100" spc="-8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license</a:t>
            </a:r>
            <a:r>
              <a:rPr dirty="0" sz="3100" spc="-8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applied</a:t>
            </a:r>
            <a:r>
              <a:rPr dirty="0" sz="3100" spc="-8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for</a:t>
            </a:r>
            <a:r>
              <a:rPr dirty="0" sz="3100" spc="-80">
                <a:latin typeface="Arial"/>
                <a:cs typeface="Arial"/>
              </a:rPr>
              <a:t> </a:t>
            </a:r>
            <a:r>
              <a:rPr dirty="0" sz="3100" spc="-10">
                <a:latin typeface="Arial"/>
                <a:cs typeface="Arial"/>
              </a:rPr>
              <a:t>Nov28,08</a:t>
            </a:r>
            <a:endParaRPr sz="310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555"/>
              </a:spcBef>
              <a:buChar char="•"/>
              <a:tabLst>
                <a:tab pos="378460" algn="l"/>
              </a:tabLst>
            </a:pPr>
            <a:r>
              <a:rPr dirty="0" sz="3100">
                <a:latin typeface="Arial"/>
                <a:cs typeface="Arial"/>
              </a:rPr>
              <a:t>Bank</a:t>
            </a:r>
            <a:r>
              <a:rPr dirty="0" sz="3100" spc="-22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Account</a:t>
            </a:r>
            <a:r>
              <a:rPr dirty="0" sz="3100" spc="-7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+</a:t>
            </a:r>
            <a:r>
              <a:rPr dirty="0" sz="3100" spc="-7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Paypal</a:t>
            </a:r>
            <a:r>
              <a:rPr dirty="0" sz="3100" spc="-6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account</a:t>
            </a:r>
            <a:r>
              <a:rPr dirty="0" sz="3100" spc="-65">
                <a:latin typeface="Arial"/>
                <a:cs typeface="Arial"/>
              </a:rPr>
              <a:t> </a:t>
            </a:r>
            <a:r>
              <a:rPr dirty="0" sz="3100" spc="-10">
                <a:latin typeface="Arial"/>
                <a:cs typeface="Arial"/>
              </a:rPr>
              <a:t>created</a:t>
            </a:r>
            <a:endParaRPr sz="310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555"/>
              </a:spcBef>
              <a:buChar char="•"/>
              <a:tabLst>
                <a:tab pos="378460" algn="l"/>
              </a:tabLst>
            </a:pPr>
            <a:r>
              <a:rPr dirty="0" sz="3100">
                <a:latin typeface="Arial"/>
                <a:cs typeface="Arial"/>
              </a:rPr>
              <a:t>5</a:t>
            </a:r>
            <a:r>
              <a:rPr dirty="0" sz="3100" spc="-5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advisors</a:t>
            </a:r>
            <a:r>
              <a:rPr dirty="0" sz="3100" spc="-5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&amp;</a:t>
            </a:r>
            <a:r>
              <a:rPr dirty="0" sz="3100" spc="-4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15</a:t>
            </a:r>
            <a:r>
              <a:rPr dirty="0" sz="3100" spc="-5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clients</a:t>
            </a:r>
            <a:r>
              <a:rPr dirty="0" sz="3100" spc="-4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now</a:t>
            </a:r>
            <a:r>
              <a:rPr dirty="0" sz="3100" spc="-50">
                <a:latin typeface="Arial"/>
                <a:cs typeface="Arial"/>
              </a:rPr>
              <a:t> </a:t>
            </a:r>
            <a:r>
              <a:rPr dirty="0" sz="3100" spc="-10">
                <a:latin typeface="Arial"/>
                <a:cs typeface="Arial"/>
              </a:rPr>
              <a:t>recruited</a:t>
            </a:r>
            <a:endParaRPr sz="310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555"/>
              </a:spcBef>
              <a:buChar char="•"/>
              <a:tabLst>
                <a:tab pos="378460" algn="l"/>
              </a:tabLst>
            </a:pPr>
            <a:r>
              <a:rPr dirty="0" sz="3100">
                <a:latin typeface="Arial"/>
                <a:cs typeface="Arial"/>
              </a:rPr>
              <a:t>Provisional</a:t>
            </a:r>
            <a:r>
              <a:rPr dirty="0" sz="3100" spc="-114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patent</a:t>
            </a:r>
            <a:r>
              <a:rPr dirty="0" sz="3100" spc="-110">
                <a:latin typeface="Arial"/>
                <a:cs typeface="Arial"/>
              </a:rPr>
              <a:t> </a:t>
            </a:r>
            <a:r>
              <a:rPr dirty="0" sz="3100" spc="-10">
                <a:latin typeface="Arial"/>
                <a:cs typeface="Arial"/>
              </a:rPr>
              <a:t>filed</a:t>
            </a:r>
            <a:endParaRPr sz="3100">
              <a:latin typeface="Arial"/>
              <a:cs typeface="Arial"/>
            </a:endParaRPr>
          </a:p>
          <a:p>
            <a:pPr marL="378460" indent="-365760">
              <a:lnSpc>
                <a:spcPct val="100000"/>
              </a:lnSpc>
              <a:spcBef>
                <a:spcPts val="555"/>
              </a:spcBef>
              <a:buChar char="•"/>
              <a:tabLst>
                <a:tab pos="378460" algn="l"/>
              </a:tabLst>
            </a:pPr>
            <a:r>
              <a:rPr dirty="0" sz="3100" spc="-45">
                <a:solidFill>
                  <a:srgbClr val="008000"/>
                </a:solidFill>
                <a:latin typeface="Arial"/>
                <a:cs typeface="Arial"/>
              </a:rPr>
              <a:t>NEXT:</a:t>
            </a:r>
            <a:r>
              <a:rPr dirty="0" sz="3100" spc="-8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buy</a:t>
            </a:r>
            <a:r>
              <a:rPr dirty="0" sz="3100" spc="-8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3</a:t>
            </a:r>
            <a:r>
              <a:rPr dirty="0" sz="3100" spc="-8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cars,</a:t>
            </a:r>
            <a:r>
              <a:rPr dirty="0" sz="3100" spc="-75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develop</a:t>
            </a:r>
            <a:r>
              <a:rPr dirty="0" sz="3100" spc="-8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app,</a:t>
            </a:r>
            <a:r>
              <a:rPr dirty="0" sz="3100" spc="-80">
                <a:latin typeface="Arial"/>
                <a:cs typeface="Arial"/>
              </a:rPr>
              <a:t> </a:t>
            </a:r>
            <a:r>
              <a:rPr dirty="0" sz="3100">
                <a:latin typeface="Arial"/>
                <a:cs typeface="Arial"/>
              </a:rPr>
              <a:t>Feb1st</a:t>
            </a:r>
            <a:r>
              <a:rPr dirty="0" sz="3100" spc="-80">
                <a:latin typeface="Arial"/>
                <a:cs typeface="Arial"/>
              </a:rPr>
              <a:t> </a:t>
            </a:r>
            <a:r>
              <a:rPr dirty="0" sz="3100" spc="-20">
                <a:latin typeface="Arial"/>
                <a:cs typeface="Arial"/>
              </a:rPr>
              <a:t>demo</a:t>
            </a:r>
            <a:endParaRPr sz="3100">
              <a:latin typeface="Arial"/>
              <a:cs typeface="Arial"/>
            </a:endParaRPr>
          </a:p>
          <a:p>
            <a:pPr marL="501015">
              <a:lnSpc>
                <a:spcPct val="100000"/>
              </a:lnSpc>
              <a:spcBef>
                <a:spcPts val="575"/>
              </a:spcBef>
            </a:pPr>
            <a:r>
              <a:rPr dirty="0" sz="2650">
                <a:latin typeface="Arial"/>
                <a:cs typeface="Arial"/>
              </a:rPr>
              <a:t>–</a:t>
            </a:r>
            <a:r>
              <a:rPr dirty="0" sz="2650" spc="12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Raise</a:t>
            </a:r>
            <a:r>
              <a:rPr dirty="0" sz="2650" spc="1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a</a:t>
            </a:r>
            <a:r>
              <a:rPr dirty="0" sz="2650" spc="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few</a:t>
            </a:r>
            <a:r>
              <a:rPr dirty="0" sz="2650" spc="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million,</a:t>
            </a:r>
            <a:r>
              <a:rPr dirty="0" sz="2650" spc="5">
                <a:latin typeface="Arial"/>
                <a:cs typeface="Arial"/>
              </a:rPr>
              <a:t> </a:t>
            </a:r>
            <a:r>
              <a:rPr dirty="0" sz="2650" spc="-10">
                <a:latin typeface="Arial"/>
                <a:cs typeface="Arial"/>
              </a:rPr>
              <a:t>small-</a:t>
            </a:r>
            <a:r>
              <a:rPr dirty="0" sz="2650">
                <a:latin typeface="Arial"/>
                <a:cs typeface="Arial"/>
              </a:rPr>
              <a:t>office</a:t>
            </a:r>
            <a:r>
              <a:rPr dirty="0" sz="2650" spc="10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+</a:t>
            </a:r>
            <a:r>
              <a:rPr dirty="0" sz="2650" spc="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GM</a:t>
            </a:r>
            <a:r>
              <a:rPr dirty="0" sz="2650" spc="5">
                <a:latin typeface="Arial"/>
                <a:cs typeface="Arial"/>
              </a:rPr>
              <a:t> </a:t>
            </a:r>
            <a:r>
              <a:rPr dirty="0" sz="2650">
                <a:latin typeface="Arial"/>
                <a:cs typeface="Arial"/>
              </a:rPr>
              <a:t>in</a:t>
            </a:r>
            <a:r>
              <a:rPr dirty="0" sz="2650" spc="5">
                <a:latin typeface="Arial"/>
                <a:cs typeface="Arial"/>
              </a:rPr>
              <a:t> </a:t>
            </a:r>
            <a:r>
              <a:rPr dirty="0" sz="2650" spc="-25">
                <a:latin typeface="Arial"/>
                <a:cs typeface="Arial"/>
              </a:rPr>
              <a:t>SF</a:t>
            </a:r>
            <a:endParaRPr sz="2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2025-05-23T11:50:04Z</dcterms:created>
  <dcterms:modified xsi:type="dcterms:W3CDTF">2025-05-23T11:50:04Z</dcterms:modified>
</cp:coreProperties>
</file>