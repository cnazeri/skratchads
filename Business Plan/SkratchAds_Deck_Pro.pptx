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32"/>
    <p:restoredTop sz="94610"/>
  </p:normalViewPr>
  <p:slideViewPr>
    <p:cSldViewPr snapToGrid="0" snapToObjects="1">
      <p:cViewPr>
        <p:scale>
          <a:sx n="102" d="100"/>
          <a:sy n="102" d="100"/>
        </p:scale>
        <p:origin x="568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Rate (%)</c:v>
                </c:pt>
              </c:strCache>
            </c:strRef>
          </c:tx>
          <c:spPr>
            <a:solidFill>
              <a:srgbClr val="D1D9E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A37-A24F-B6CF-2633D7B656ED}"/>
              </c:ext>
            </c:extLst>
          </c:dPt>
          <c:dPt>
            <c:idx val="1"/>
            <c:invertIfNegative val="0"/>
            <c:bubble3D val="0"/>
            <c:spPr>
              <a:solidFill>
                <a:srgbClr val="B8C5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A37-A24F-B6CF-2633D7B656ED}"/>
              </c:ext>
            </c:extLst>
          </c:dPt>
          <c:dPt>
            <c:idx val="2"/>
            <c:invertIfNegative val="0"/>
            <c:bubble3D val="0"/>
            <c:spPr>
              <a:solidFill>
                <a:srgbClr val="8896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A37-A24F-B6CF-2633D7B656ED}"/>
              </c:ext>
            </c:extLst>
          </c:dPt>
          <c:dPt>
            <c:idx val="3"/>
            <c:invertIfNegative val="0"/>
            <c:bubble3D val="0"/>
            <c:spPr>
              <a:solidFill>
                <a:srgbClr val="4A6F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A37-A24F-B6CF-2633D7B656ED}"/>
              </c:ext>
            </c:extLst>
          </c:dPt>
          <c:dPt>
            <c:idx val="4"/>
            <c:invertIfNegative val="0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A37-A24F-B6CF-2633D7B656ED}"/>
              </c:ext>
            </c:extLst>
          </c:dPt>
          <c:dPt>
            <c:idx val="5"/>
            <c:invertIfNegative val="0"/>
            <c:bubble3D val="0"/>
            <c:spPr>
              <a:solidFill>
                <a:srgbClr val="C997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A37-A24F-B6CF-2633D7B656ED}"/>
              </c:ext>
            </c:extLst>
          </c:dPt>
          <c:dPt>
            <c:idx val="6"/>
            <c:invertIfNegative val="0"/>
            <c:bubble3D val="0"/>
            <c:spPr>
              <a:solidFill>
                <a:srgbClr val="C997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A37-A24F-B6CF-2633D7B656E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B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Banner CTR
(industry avg)</c:v>
                </c:pt>
                <c:pt idx="1">
                  <c:v>In-App Banner
CTR 2024</c:v>
                </c:pt>
                <c:pt idx="2">
                  <c:v>Rich Media
Banner</c:v>
                </c:pt>
                <c:pt idx="3">
                  <c:v>Playable
Ads</c:v>
                </c:pt>
                <c:pt idx="4">
                  <c:v>Rewarded
Video</c:v>
                </c:pt>
                <c:pt idx="5">
                  <c:v>SkratchAds
(conservative)</c:v>
                </c:pt>
                <c:pt idx="6">
                  <c:v>SkratchAds
(target)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0.4</c:v>
                </c:pt>
                <c:pt idx="1">
                  <c:v>0.56000000000000005</c:v>
                </c:pt>
                <c:pt idx="2">
                  <c:v>2</c:v>
                </c:pt>
                <c:pt idx="3">
                  <c:v>7</c:v>
                </c:pt>
                <c:pt idx="4">
                  <c:v>20</c:v>
                </c:pt>
                <c:pt idx="5">
                  <c:v>10</c:v>
                </c:pt>
                <c:pt idx="6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4A37-A24F-B6CF-2633D7B656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chemeClr val="accent5">
                <a:lumMod val="60000"/>
                <a:lumOff val="40000"/>
              </a:scheme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B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</c:v>
                </c:pt>
                <c:pt idx="1">
                  <c:v>1.5</c:v>
                </c:pt>
                <c:pt idx="2">
                  <c:v>10</c:v>
                </c:pt>
                <c:pt idx="3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36-7940-A609-59F0497D990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Upside</c:v>
                </c:pt>
              </c:strCache>
            </c:strRef>
          </c:tx>
          <c:spPr>
            <a:solidFill>
              <a:srgbClr val="C9972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C2B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2029+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0.5</c:v>
                </c:pt>
                <c:pt idx="1">
                  <c:v>5</c:v>
                </c:pt>
                <c:pt idx="2">
                  <c:v>30</c:v>
                </c:pt>
                <c:pt idx="3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36-7940-A609-59F0497D99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DF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100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19">
            <a:extLst>
              <a:ext uri="{FF2B5EF4-FFF2-40B4-BE49-F238E27FC236}">
                <a16:creationId xmlns:a16="http://schemas.microsoft.com/office/drawing/2014/main" id="{5FF310AE-B7BC-8AB8-E069-90430BE42E3B}"/>
              </a:ext>
            </a:extLst>
          </p:cNvPr>
          <p:cNvSpPr/>
          <p:nvPr/>
        </p:nvSpPr>
        <p:spPr>
          <a:xfrm>
            <a:off x="2315892" y="1785262"/>
            <a:ext cx="4512214" cy="45719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61256" y="2092948"/>
            <a:ext cx="8621486" cy="8792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Scratch-Off Revolution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solidFill>
                  <a:srgbClr val="1C2B3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for Mobile Advertising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3036" y="2972178"/>
            <a:ext cx="8621486" cy="17205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556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Turn banner blindness into engagement — and real prizes into real leads. A polite, voluntary scratch mechanic that works for publishers, advertisers, and users simultaneously.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594296" y="4692725"/>
            <a:ext cx="2278966" cy="2963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hello@skratchads.com</a:t>
            </a:r>
          </a:p>
        </p:txBody>
      </p:sp>
      <p:pic>
        <p:nvPicPr>
          <p:cNvPr id="20" name="Picture 19" descr="A black and white logo&#10;&#10;AI-generated content may be incorrect.">
            <a:extLst>
              <a:ext uri="{FF2B5EF4-FFF2-40B4-BE49-F238E27FC236}">
                <a16:creationId xmlns:a16="http://schemas.microsoft.com/office/drawing/2014/main" id="{07786132-04E1-F224-E53E-993FBDA1D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5892" y="1108925"/>
            <a:ext cx="4512214" cy="90886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latin typeface="Arial" panose="020B0604020202020204" pitchFamily="34" charset="0"/>
                <a:cs typeface="Arial" panose="020B0604020202020204" pitchFamily="34" charset="0"/>
              </a:rPr>
              <a:t>THE PROBLEM: BANNER ADVERTISING IS BROKEN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069080" cy="1188720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91440" cy="1188720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4914" y="1027385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0.3–0.56%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4340" y="1539469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Average Banner in-app banner CTR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5488" y="17556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Embryo / AppLovin 2024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76272"/>
            <a:ext cx="4069080" cy="1188720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91440" cy="1188720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241994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$0.50–$1.50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5488" y="291693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 Tier 1 banner eCPM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5488" y="3108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AdMob / Playwire Q4 2024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3529584"/>
            <a:ext cx="4069080" cy="1188720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3529584"/>
            <a:ext cx="91440" cy="1188720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3756875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</a:rPr>
              <a:t>$51B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5488" y="424582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 banner ad spend wasted 2024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5488" y="446227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896A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Statista / Oberlo</a:t>
            </a:r>
            <a:endParaRPr lang="en-US" sz="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617720" y="804672"/>
            <a:ext cx="4251960" cy="4133088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800600" y="93268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Root Causes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00600" y="1353312"/>
            <a:ext cx="1097280" cy="36576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28032" y="1685042"/>
            <a:ext cx="201168" cy="201168"/>
          </a:xfrm>
          <a:prstGeom prst="ellipse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20640" y="1481328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Banner blindness — users ignore them entirely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28032" y="2338351"/>
            <a:ext cx="201168" cy="201168"/>
          </a:xfrm>
          <a:prstGeom prst="ellipse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20640" y="2139696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Apple ATT + cookie deprecation gutted targeting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840558" y="2918912"/>
            <a:ext cx="201168" cy="201168"/>
          </a:xfrm>
          <a:prstGeom prst="ellipse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0" y="2798064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Intrusive formats (interstitials, rewarded video) hurt retention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828032" y="3635094"/>
            <a:ext cx="201168" cy="201168"/>
          </a:xfrm>
          <a:prstGeom prst="ellipse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20640" y="345643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Publishers trapped in a race-to-bottom CPM war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28032" y="4303580"/>
            <a:ext cx="201168" cy="201168"/>
          </a:xfrm>
          <a:prstGeom prst="ellipse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120640" y="4114800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 blockers used by 37% of US mobile users</a:t>
            </a:r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896A8"/>
                </a:solidFill>
              </a:rPr>
              <a:t>Sources: Embryo, AdMob/Playwire, Statista, Oberlo, Business of Apps — 2024</a:t>
            </a:r>
            <a:endParaRPr lang="en-US" sz="8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2DDF185B-634E-39EB-D25A-5BFEC1EEB02E}"/>
              </a:ext>
            </a:extLst>
          </p:cNvPr>
          <p:cNvSpPr/>
          <p:nvPr/>
        </p:nvSpPr>
        <p:spPr>
          <a:xfrm>
            <a:off x="454914" y="8503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Click Through Rates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 5">
            <a:extLst>
              <a:ext uri="{FF2B5EF4-FFF2-40B4-BE49-F238E27FC236}">
                <a16:creationId xmlns:a16="http://schemas.microsoft.com/office/drawing/2014/main" id="{A43385A0-5DA0-8680-2B2F-28A4E178BF4C}"/>
              </a:ext>
            </a:extLst>
          </p:cNvPr>
          <p:cNvSpPr/>
          <p:nvPr/>
        </p:nvSpPr>
        <p:spPr>
          <a:xfrm>
            <a:off x="475488" y="21544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Low </a:t>
            </a:r>
            <a:r>
              <a:rPr lang="en-US" sz="1400" b="1" dirty="0" err="1">
                <a:solidFill>
                  <a:srgbClr val="4A55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eCPM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7F31F96D-D723-95AE-3AA7-2D0DCFB4E260}"/>
              </a:ext>
            </a:extLst>
          </p:cNvPr>
          <p:cNvSpPr/>
          <p:nvPr/>
        </p:nvSpPr>
        <p:spPr>
          <a:xfrm>
            <a:off x="434340" y="3536619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556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Wasted Spend</a:t>
            </a:r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latin typeface="Arial" panose="020B0604020202020204" pitchFamily="34" charset="0"/>
                <a:cs typeface="Arial" panose="020B0604020202020204" pitchFamily="34" charset="0"/>
              </a:rPr>
              <a:t>THE SOLUTION: HOW SKRATCHADS WORKS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34930" y="800452"/>
            <a:ext cx="1993392" cy="4096512"/>
          </a:xfrm>
          <a:prstGeom prst="rect">
            <a:avLst/>
          </a:prstGeom>
          <a:solidFill>
            <a:schemeClr val="accent1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86968" y="896112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6968" y="896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2039112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Banner Loads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17739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</a:rPr>
              <a:t>Polite, edge-anchored banner appears in-app. Animated scratch cue invites engagement.</a:t>
            </a:r>
          </a:p>
        </p:txBody>
      </p:sp>
      <p:sp>
        <p:nvSpPr>
          <p:cNvPr id="9" name="Shape 7"/>
          <p:cNvSpPr/>
          <p:nvPr/>
        </p:nvSpPr>
        <p:spPr>
          <a:xfrm>
            <a:off x="2432304" y="804672"/>
            <a:ext cx="1993392" cy="4096512"/>
          </a:xfrm>
          <a:prstGeom prst="rect">
            <a:avLst/>
          </a:prstGeom>
          <a:solidFill>
            <a:schemeClr val="accent1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>
              <a:solidFill>
                <a:schemeClr val="accent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063240" y="896112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063240" y="896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42032" y="2039112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User Scratches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42032" y="2359152"/>
            <a:ext cx="17739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</a:rPr>
              <a:t>Voluntary 3–5 second scratch gesture. No forced interruption to the user session.</a:t>
            </a:r>
          </a:p>
        </p:txBody>
      </p:sp>
      <p:sp>
        <p:nvSpPr>
          <p:cNvPr id="14" name="Shape 12"/>
          <p:cNvSpPr/>
          <p:nvPr/>
        </p:nvSpPr>
        <p:spPr>
          <a:xfrm>
            <a:off x="4608576" y="804672"/>
            <a:ext cx="1993392" cy="4096512"/>
          </a:xfrm>
          <a:prstGeom prst="rect">
            <a:avLst/>
          </a:prstGeom>
          <a:solidFill>
            <a:schemeClr val="accent1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239512" y="896112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39512" y="896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/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18304" y="2039112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Win Path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718304" y="2359152"/>
            <a:ext cx="17739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chemeClr val="bg1"/>
                </a:solidFill>
              </a:rPr>
              <a:t>Prize overlay reveals → email capture → redeemable token → qualified advertiser lead</a:t>
            </a:r>
            <a:r>
              <a:rPr lang="en-US" sz="1150" dirty="0">
                <a:solidFill>
                  <a:srgbClr val="1B3A6B"/>
                </a:solidFill>
              </a:rPr>
              <a:t>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84848" y="804672"/>
            <a:ext cx="1993392" cy="4096512"/>
          </a:xfrm>
          <a:prstGeom prst="rect">
            <a:avLst/>
          </a:prstGeom>
          <a:solidFill>
            <a:schemeClr val="accent1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15784" y="896112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15784" y="89611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3A6B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94576" y="2039112"/>
            <a:ext cx="1810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Lose Path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94576" y="2359152"/>
            <a:ext cx="177393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</a:rPr>
              <a:t>Brand ad reveals to primed, engaged user. Attention primed by scratch = 5–10× CTR uplift.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56032" y="4718304"/>
            <a:ext cx="8631936" cy="32918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71830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60-second cooldown prevents ad fatigue  ·  Fallback standard banner maintains 100% fill rate  ·  No session interruption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/>
              <a:t>WHY NOW: PERFECT MARKET CONDITIONS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51960" cy="1243584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73152" cy="124358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Privacy Revolution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ATT framework &amp; cookie deprecation ended behavioral targeting. Engagement is now the primary value signal for advertisers.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04672"/>
            <a:ext cx="4251960" cy="1243584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73152" cy="124358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8961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Mobile Dominance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261872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$402B global spend in 2024 growing at 11% YoY. In-app formats projected to reach $390B in 2025 alone.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251960" cy="1243584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73152" cy="124358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2860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Gamification Proven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Rewarded video delivers 71% higher ROAS over forced formats. Discord launched mobile Video Quests in March 2025.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194560"/>
            <a:ext cx="4251960" cy="1243584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194560"/>
            <a:ext cx="73152" cy="124358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228600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Scratch Psychology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651760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$100B+ spent on US lottery scratch-offs annually — users voluntarily scratch for any chance at reward.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584448"/>
            <a:ext cx="4251960" cy="1243584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584448"/>
            <a:ext cx="73152" cy="124358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6758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MVP Ready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416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Working product with live JS banner integration. Second iteration built on lessons from a 2011–2014 predecessor.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584448"/>
            <a:ext cx="4251960" cy="1243584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54880" y="3584448"/>
            <a:ext cx="73152" cy="124358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37760" y="367588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No Direct Competitor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041648"/>
            <a:ext cx="3931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</a:rPr>
              <a:t>Zero products combine: polite banner format + real prizes + dual conversion path (win path + lose path).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486460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896A8"/>
                </a:solidFill>
              </a:rPr>
              <a:t>Sources: AppLovin, Discord (March 2025), NASPL Lottery Data, Business of Apps — 2024/2025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/>
              <a:t>MARKET SIZE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1115568"/>
          </a:xfrm>
          <a:prstGeom prst="rect">
            <a:avLst/>
          </a:prstGeom>
          <a:solidFill>
            <a:srgbClr val="1B3A6B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0352" y="896112"/>
            <a:ext cx="731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371600" y="896112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$402B+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474720" y="1060704"/>
            <a:ext cx="51206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Global in-app ad spend 2024 — growing to $550B+ by 2028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2267712"/>
            <a:ext cx="6217920" cy="1115568"/>
          </a:xfrm>
          <a:prstGeom prst="rect">
            <a:avLst/>
          </a:prstGeom>
          <a:solidFill>
            <a:srgbClr val="2A52A0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30352" y="2267712"/>
            <a:ext cx="731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2267712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$60B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2432304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Interactive, rewarded &amp; engagement formats (~15% of in-app market)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3639312"/>
            <a:ext cx="3017520" cy="11155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0352" y="3639312"/>
            <a:ext cx="731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SOM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639312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$50M+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74720" y="3803904"/>
            <a:ext cx="2926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3A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Realistic 5-year capture at Phase 4 (20,000+ integrated apps)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475488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US banner ad spend alone: $50.96B (2024)  ·  US rewarded video growing 15%+ YoY  ·  In-app formats = highest-volume ad category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901184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896A8"/>
                </a:solidFill>
              </a:rPr>
              <a:t>Sources: SensorTower, Statista, Oberlo — 2024/2025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" y="0"/>
            <a:ext cx="91440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/>
              <a:t>COMPETITIVE LANDSCAPE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92608" y="804672"/>
            <a:ext cx="2011680" cy="47548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804672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Format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304288" y="804672"/>
            <a:ext cx="1261872" cy="47548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304288" y="80467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Non-Intrusive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66160" y="804672"/>
            <a:ext cx="1078992" cy="47548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0" y="804672"/>
            <a:ext cx="1078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Voluntary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45152" y="804672"/>
            <a:ext cx="1389888" cy="47548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45152" y="80467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Real Prizes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804672"/>
            <a:ext cx="1389888" cy="47548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804672"/>
            <a:ext cx="13898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Dual Convert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424928" y="804672"/>
            <a:ext cx="1645920" cy="47548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24928" y="80467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eCPM (US)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92608" y="1280160"/>
            <a:ext cx="2011680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92608" y="1280160"/>
            <a:ext cx="201168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B3A"/>
                </a:solidFill>
              </a:rPr>
              <a:t>Standard Banner</a:t>
            </a:r>
            <a:endParaRPr lang="en-US" sz="1400" b="1" dirty="0"/>
          </a:p>
        </p:txBody>
      </p:sp>
      <p:sp>
        <p:nvSpPr>
          <p:cNvPr id="18" name="Shape 16"/>
          <p:cNvSpPr/>
          <p:nvPr/>
        </p:nvSpPr>
        <p:spPr>
          <a:xfrm>
            <a:off x="2304288" y="1280160"/>
            <a:ext cx="1261872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04288" y="1280160"/>
            <a:ext cx="126187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✅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66160" y="1280160"/>
            <a:ext cx="1078992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566160" y="1280160"/>
            <a:ext cx="107899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45152" y="1280160"/>
            <a:ext cx="1389888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45152" y="1280160"/>
            <a:ext cx="138988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❌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35040" y="1280160"/>
            <a:ext cx="1389888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35040" y="1280160"/>
            <a:ext cx="138988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424928" y="1280160"/>
            <a:ext cx="1645920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24928" y="1280160"/>
            <a:ext cx="16459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$0.50–$1.50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92608" y="1938528"/>
            <a:ext cx="201168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92608" y="1938528"/>
            <a:ext cx="201168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B3A"/>
                </a:solidFill>
              </a:rPr>
              <a:t>Interstitial</a:t>
            </a:r>
            <a:endParaRPr lang="en-US" sz="1400" b="1" dirty="0"/>
          </a:p>
        </p:txBody>
      </p:sp>
      <p:sp>
        <p:nvSpPr>
          <p:cNvPr id="30" name="Shape 28"/>
          <p:cNvSpPr/>
          <p:nvPr/>
        </p:nvSpPr>
        <p:spPr>
          <a:xfrm>
            <a:off x="2304288" y="1938528"/>
            <a:ext cx="1261872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304288" y="1938528"/>
            <a:ext cx="126187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566160" y="1938528"/>
            <a:ext cx="1078992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566160" y="1938528"/>
            <a:ext cx="107899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❌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45152" y="1938528"/>
            <a:ext cx="1389888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645152" y="1938528"/>
            <a:ext cx="138988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35040" y="1938528"/>
            <a:ext cx="1389888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035040" y="1938528"/>
            <a:ext cx="138988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❌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424928" y="1938528"/>
            <a:ext cx="164592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24928" y="1938528"/>
            <a:ext cx="16459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$5–$8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92608" y="2596896"/>
            <a:ext cx="2011680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92608" y="2596896"/>
            <a:ext cx="201168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B3A"/>
                </a:solidFill>
              </a:rPr>
              <a:t>Rewarded Video</a:t>
            </a:r>
            <a:endParaRPr lang="en-US" sz="1400" b="1" dirty="0"/>
          </a:p>
        </p:txBody>
      </p:sp>
      <p:sp>
        <p:nvSpPr>
          <p:cNvPr id="42" name="Shape 40"/>
          <p:cNvSpPr/>
          <p:nvPr/>
        </p:nvSpPr>
        <p:spPr>
          <a:xfrm>
            <a:off x="2304288" y="2596896"/>
            <a:ext cx="1261872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304288" y="2596896"/>
            <a:ext cx="126187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⚠ Full-screen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3566160" y="2596896"/>
            <a:ext cx="1078992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566160" y="2596896"/>
            <a:ext cx="107899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✅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45152" y="2596896"/>
            <a:ext cx="1389888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645152" y="2596896"/>
            <a:ext cx="138988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Virtual only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035040" y="2596896"/>
            <a:ext cx="1389888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035040" y="2596896"/>
            <a:ext cx="138988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❌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424928" y="2596896"/>
            <a:ext cx="1645920" cy="603504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424928" y="2596896"/>
            <a:ext cx="16459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$15–$30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92608" y="3255264"/>
            <a:ext cx="201168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92608" y="3255264"/>
            <a:ext cx="201168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B3A"/>
                </a:solidFill>
              </a:rPr>
              <a:t>Playable Ads</a:t>
            </a:r>
            <a:endParaRPr lang="en-US" sz="1400" b="1" dirty="0"/>
          </a:p>
        </p:txBody>
      </p:sp>
      <p:sp>
        <p:nvSpPr>
          <p:cNvPr id="54" name="Shape 52"/>
          <p:cNvSpPr/>
          <p:nvPr/>
        </p:nvSpPr>
        <p:spPr>
          <a:xfrm>
            <a:off x="2304288" y="3255264"/>
            <a:ext cx="1261872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304288" y="3255264"/>
            <a:ext cx="126187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⚠ Full-screen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3566160" y="3255264"/>
            <a:ext cx="1078992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566160" y="3255264"/>
            <a:ext cx="107899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✅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645152" y="3255264"/>
            <a:ext cx="1389888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645152" y="3255264"/>
            <a:ext cx="138988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❌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035040" y="3255264"/>
            <a:ext cx="1389888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035040" y="3255264"/>
            <a:ext cx="138988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❌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424928" y="3255264"/>
            <a:ext cx="1645920" cy="6035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7424928" y="3255264"/>
            <a:ext cx="16459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B3A"/>
                </a:solidFill>
              </a:rPr>
              <a:t>$5–$20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92608" y="3913632"/>
            <a:ext cx="2011680" cy="60350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292608" y="3913632"/>
            <a:ext cx="201168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</a:rPr>
              <a:t>                         ✦</a:t>
            </a:r>
            <a:endParaRPr lang="en-US" sz="1150" dirty="0"/>
          </a:p>
        </p:txBody>
      </p:sp>
      <p:sp>
        <p:nvSpPr>
          <p:cNvPr id="66" name="Shape 64"/>
          <p:cNvSpPr/>
          <p:nvPr/>
        </p:nvSpPr>
        <p:spPr>
          <a:xfrm>
            <a:off x="2304288" y="3913632"/>
            <a:ext cx="1261872" cy="60350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304288" y="3913632"/>
            <a:ext cx="126187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</a:rPr>
              <a:t>✅</a:t>
            </a:r>
            <a:endParaRPr lang="en-US" sz="1150" dirty="0"/>
          </a:p>
        </p:txBody>
      </p:sp>
      <p:sp>
        <p:nvSpPr>
          <p:cNvPr id="68" name="Shape 66"/>
          <p:cNvSpPr/>
          <p:nvPr/>
        </p:nvSpPr>
        <p:spPr>
          <a:xfrm>
            <a:off x="3566160" y="3913632"/>
            <a:ext cx="1078992" cy="60350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566160" y="3913632"/>
            <a:ext cx="107899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</a:rPr>
              <a:t>✅</a:t>
            </a:r>
            <a:endParaRPr lang="en-US" sz="1150" dirty="0"/>
          </a:p>
        </p:txBody>
      </p:sp>
      <p:sp>
        <p:nvSpPr>
          <p:cNvPr id="70" name="Shape 68"/>
          <p:cNvSpPr/>
          <p:nvPr/>
        </p:nvSpPr>
        <p:spPr>
          <a:xfrm>
            <a:off x="4645152" y="3913632"/>
            <a:ext cx="1389888" cy="60350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645152" y="3913632"/>
            <a:ext cx="138988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</a:rPr>
              <a:t>✅ Real</a:t>
            </a:r>
            <a:endParaRPr lang="en-US" sz="1150" dirty="0"/>
          </a:p>
        </p:txBody>
      </p:sp>
      <p:sp>
        <p:nvSpPr>
          <p:cNvPr id="72" name="Shape 70"/>
          <p:cNvSpPr/>
          <p:nvPr/>
        </p:nvSpPr>
        <p:spPr>
          <a:xfrm>
            <a:off x="6035040" y="3913632"/>
            <a:ext cx="1389888" cy="60350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035040" y="3913632"/>
            <a:ext cx="1389888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</a:rPr>
              <a:t>✅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7424928" y="3913632"/>
            <a:ext cx="1645920" cy="60350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424928" y="3913632"/>
            <a:ext cx="16459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3A6B"/>
                </a:solidFill>
              </a:rPr>
              <a:t>$8–$20</a:t>
            </a:r>
            <a:endParaRPr lang="en-US" sz="1150" dirty="0"/>
          </a:p>
        </p:txBody>
      </p:sp>
      <p:sp>
        <p:nvSpPr>
          <p:cNvPr id="76" name="Text 74"/>
          <p:cNvSpPr/>
          <p:nvPr/>
        </p:nvSpPr>
        <p:spPr>
          <a:xfrm>
            <a:off x="365760" y="488289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896A8"/>
                </a:solidFill>
              </a:rPr>
              <a:t>Sources: Playwire/AdMob, Business of Apps, Yango Ads — Q4 2024 US market rates</a:t>
            </a:r>
            <a:endParaRPr lang="en-US" sz="800" dirty="0"/>
          </a:p>
        </p:txBody>
      </p:sp>
      <p:pic>
        <p:nvPicPr>
          <p:cNvPr id="77" name="Picture 76" descr="A black and white logo&#10;&#10;AI-generated content may be incorrect.">
            <a:extLst>
              <a:ext uri="{FF2B5EF4-FFF2-40B4-BE49-F238E27FC236}">
                <a16:creationId xmlns:a16="http://schemas.microsoft.com/office/drawing/2014/main" id="{F7826C64-BA70-E894-7985-6FB204640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996" y="4154557"/>
            <a:ext cx="914843" cy="1842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FFFFF"/>
                </a:solidFill>
              </a:rPr>
              <a:t>PRODUCT &amp; TECHNOLOGY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24912" cy="1828800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24912" cy="5486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93268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</a:rPr>
              <a:t>Interactive Scratch Banner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1426464"/>
            <a:ext cx="24505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HTML5 Canvas engine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6 custom scratch images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Animated reveal mechanics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182112" y="804672"/>
            <a:ext cx="2724912" cy="1828800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82112" y="804672"/>
            <a:ext cx="2724912" cy="5486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19272" y="93268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</a:rPr>
              <a:t>Server-Side Win Logic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19272" y="1426464"/>
            <a:ext cx="24505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Dynamic randomization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No client manipulation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Real-time prize pool mgmt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89904" y="804672"/>
            <a:ext cx="2724912" cy="1828800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89904" y="804672"/>
            <a:ext cx="2724912" cy="5486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27064" y="93268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</a:rPr>
              <a:t>Self-Serve Dashboard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227064" y="1426464"/>
            <a:ext cx="24505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Campaign creation wizard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Real-time analytics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Budget &amp; prize controls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816352"/>
            <a:ext cx="2724912" cy="1828800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816352"/>
            <a:ext cx="2724912" cy="5486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294436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</a:rPr>
              <a:t>Redemption System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" y="3438144"/>
            <a:ext cx="24505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Token-based, time-limited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Email capture on win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Verified claim flow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182112" y="2816352"/>
            <a:ext cx="2724912" cy="1828800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182112" y="2816352"/>
            <a:ext cx="2724912" cy="5486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19272" y="294436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</a:rPr>
              <a:t>AWS Infrastructure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319272" y="3438144"/>
            <a:ext cx="24505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Postgres + S3 storage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Internal data control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Scalable to 10K+ apps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89904" y="2816352"/>
            <a:ext cx="2724912" cy="1828800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89904" y="2816352"/>
            <a:ext cx="2724912" cy="5486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27064" y="2944368"/>
            <a:ext cx="2450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3A6B"/>
                </a:solidFill>
              </a:rPr>
              <a:t>Easy Integration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27064" y="3438144"/>
            <a:ext cx="24505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JS banner today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iOS &amp; Android SDKs (2026)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C2B3A"/>
                </a:solidFill>
              </a:rPr>
              <a:t>Mediation adapters (2027)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FFFFF"/>
                </a:solidFill>
              </a:rPr>
              <a:t>ENGAGEMENT METRICS: SKRATCHADS VS. INDUSTRY</a:t>
            </a:r>
            <a:endParaRPr lang="en-US" sz="1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58521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777240"/>
            <a:ext cx="2514600" cy="877824"/>
          </a:xfrm>
          <a:prstGeom prst="rect">
            <a:avLst/>
          </a:prstGeom>
          <a:solidFill>
            <a:srgbClr val="1B3A6B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355080" y="81381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72C"/>
                </a:solidFill>
              </a:rPr>
              <a:t>25–50×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6355080" y="127101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vs. standard banner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engagement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355080" y="1783080"/>
            <a:ext cx="2514600" cy="877824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355080" y="181965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6B"/>
                </a:solidFill>
              </a:rPr>
              <a:t>$8–20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355080" y="227685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Target eCPM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(US market)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55080" y="2788920"/>
            <a:ext cx="2514600" cy="877824"/>
          </a:xfrm>
          <a:prstGeom prst="rect">
            <a:avLst/>
          </a:prstGeom>
          <a:solidFill>
            <a:srgbClr val="1B3A6B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55080" y="282549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72C"/>
                </a:solidFill>
              </a:rPr>
              <a:t>~20%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6355080" y="328269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Projected scratch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</a:rPr>
              <a:t>completion rate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355080" y="3794760"/>
            <a:ext cx="2514600" cy="877824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355080" y="383133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3A6B"/>
                </a:solidFill>
              </a:rPr>
              <a:t>70%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355080" y="4288536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Publisher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</a:rPr>
              <a:t>revenue share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65760" y="488289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896A8"/>
                </a:solidFill>
              </a:rPr>
              <a:t>Sources: Embryo (in-app CTR 0.56%), Yango Ads (rewarded opt-in), Playwire/AdMob (eCPM), Business of Apps — 2024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FFFFF"/>
                </a:solidFill>
              </a:rPr>
              <a:t>BUSINESS MODEL: COST-PER-SCRATCH (CPS)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14800" cy="4133088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Revenue Streams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16736"/>
            <a:ext cx="914400" cy="36576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57200" y="1481328"/>
            <a:ext cx="73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972C"/>
                </a:solidFill>
              </a:rPr>
              <a:t>80–90%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80160" y="153619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</a:rPr>
              <a:t>Primary: CPS fees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188366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$1–$3 early access · $3–$8+ at scale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73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615184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972C"/>
                </a:solidFill>
              </a:rPr>
              <a:t>10–15%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80160" y="26700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</a:rPr>
              <a:t>Secondary: Primed-click fees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80160" y="30175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Higher-intent post-scratch brand clicks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731520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9972C"/>
                </a:solidFill>
              </a:rPr>
              <a:t>5–10%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80160" y="380390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2B3A"/>
                </a:solidFill>
              </a:rPr>
              <a:t>Future: Brand campaigns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415137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Fixed sponsorships, targeting, data insights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804672"/>
            <a:ext cx="4206240" cy="4133088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932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Unit Economics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316736"/>
            <a:ext cx="914400" cy="36576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754880" y="1481328"/>
            <a:ext cx="4023360" cy="493776"/>
          </a:xfrm>
          <a:prstGeom prst="rect">
            <a:avLst/>
          </a:prstGeom>
          <a:solidFill>
            <a:srgbClr val="DD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64608" y="148132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Publisher Share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876288" y="148132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70% of CPS revenue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2029968"/>
            <a:ext cx="4023360" cy="49377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64608" y="202996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SkratchAds Take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76288" y="202996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30% net margin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2578608"/>
            <a:ext cx="4023360" cy="493776"/>
          </a:xfrm>
          <a:prstGeom prst="rect">
            <a:avLst/>
          </a:prstGeom>
          <a:solidFill>
            <a:srgbClr val="DD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64608" y="257860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Early CPS Price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876288" y="257860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$1–$3  (market entry)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754880" y="3127248"/>
            <a:ext cx="4023360" cy="49377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64608" y="312724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Mature CPS Price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76288" y="312724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$3–$8+  (at scale)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54880" y="3675888"/>
            <a:ext cx="4023360" cy="493776"/>
          </a:xfrm>
          <a:prstGeom prst="rect">
            <a:avLst/>
          </a:prstGeom>
          <a:solidFill>
            <a:srgbClr val="DDE4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64608" y="367588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Prize Budget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876288" y="367588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20–50% of media spend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754880" y="4224528"/>
            <a:ext cx="4023360" cy="493776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864608" y="4224528"/>
            <a:ext cx="2011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2B3A"/>
                </a:solidFill>
              </a:rPr>
              <a:t>Break-even ARR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6876288" y="422452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</a:rPr>
              <a:t>~$500K–$1M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/>
              <a:t>REVENUE PROJECTIONS (CONSERVATIVE VS. UPSIDE)</a:t>
            </a:r>
            <a:endParaRPr lang="en-US" sz="17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39888452"/>
              </p:ext>
            </p:extLst>
          </p:nvPr>
        </p:nvGraphicFramePr>
        <p:xfrm>
          <a:off x="274320" y="749808"/>
          <a:ext cx="53035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804672"/>
            <a:ext cx="3063240" cy="896112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806440" y="804672"/>
            <a:ext cx="658368" cy="8961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06440" y="804672"/>
            <a:ext cx="658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528816" y="859536"/>
            <a:ext cx="2267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50–200 apps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JS banner · First brands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$100K–500K ARR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806440" y="1810512"/>
            <a:ext cx="3063240" cy="896112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806440" y="1810512"/>
            <a:ext cx="658368" cy="896112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806440" y="1810512"/>
            <a:ext cx="658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2027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528816" y="1865376"/>
            <a:ext cx="2267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500–2K apps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Native iOS + Android SDK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$1M–5M ARR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806440" y="2816352"/>
            <a:ext cx="3063240" cy="896112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806440" y="2816352"/>
            <a:ext cx="658368" cy="8961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806440" y="2816352"/>
            <a:ext cx="658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2028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528816" y="2871216"/>
            <a:ext cx="2267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5K–10K apps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Internal auction engine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$10M–30M ARR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806440" y="3822192"/>
            <a:ext cx="3063240" cy="896112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806440" y="3822192"/>
            <a:ext cx="658368" cy="896112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806440" y="3822192"/>
            <a:ext cx="65836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6B"/>
                </a:solidFill>
              </a:rPr>
              <a:t>2029+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528816" y="3877056"/>
            <a:ext cx="226771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20K+ apps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Acquisition target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B3A"/>
                </a:solidFill>
              </a:rPr>
              <a:t>$50M+ ARR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65760" y="488289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8896A8"/>
                </a:solidFill>
              </a:rPr>
              <a:t>Conservative base case · 30% take rate · Sources: Statista, SensorTower, AppLovin, Business of Apps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latin typeface="Arial" panose="020B0604020202020204" pitchFamily="34" charset="0"/>
                <a:cs typeface="Arial" panose="020B0604020202020204" pitchFamily="34" charset="0"/>
              </a:rPr>
              <a:t>GO-TO-MARKET STRATEGY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4133088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743200" cy="80467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Phase 1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75488" y="1700784"/>
            <a:ext cx="2340864" cy="384048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75488" y="170078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Target: 50–200 Apps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38912" y="2212848"/>
            <a:ext cx="241401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Direct outreach — Discord, Reddit, X/Twitter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38912" y="2852928"/>
            <a:ext cx="241401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Free POC’s – Test Engagement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" y="3493008"/>
            <a:ext cx="241401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Case study-driven early adopters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38912" y="4133088"/>
            <a:ext cx="241401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Target: $100K–500K ARR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182112" y="804672"/>
            <a:ext cx="2743200" cy="4133088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182112" y="804672"/>
            <a:ext cx="2743200" cy="804672"/>
          </a:xfrm>
          <a:prstGeom prst="rect">
            <a:avLst/>
          </a:prstGeom>
          <a:solidFill>
            <a:srgbClr val="2A52A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182112" y="8046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Phase 2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182112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2027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383280" y="1700784"/>
            <a:ext cx="2340864" cy="384048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83280" y="170078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Target: 500–2K Apps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46704" y="2212848"/>
            <a:ext cx="241401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Native iOS + Android SDK releases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46704" y="2852928"/>
            <a:ext cx="241401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Mediation adapters (ironSource, MAX)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346704" y="3493008"/>
            <a:ext cx="241401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Word-of-mouth flywheel + testimonials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346704" y="4133088"/>
            <a:ext cx="241401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Target: $1M–5M ARR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089904" y="804672"/>
            <a:ext cx="2743200" cy="4133088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089904" y="804672"/>
            <a:ext cx="2743200" cy="804672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089904" y="804672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Phase 3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89904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B3A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2028+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291072" y="1700784"/>
            <a:ext cx="2340864" cy="384048"/>
          </a:xfrm>
          <a:prstGeom prst="rect">
            <a:avLst/>
          </a:prstGeom>
          <a:solidFill>
            <a:srgbClr val="EE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91072" y="1700784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3A6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Target: 5K–20K+ Apps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254496" y="2212848"/>
            <a:ext cx="241401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Internal RTB auction engine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54496" y="2852928"/>
            <a:ext cx="241401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Category + geo targeting features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254496" y="3493008"/>
            <a:ext cx="241401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Enterprise brand partnerships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254496" y="4133088"/>
            <a:ext cx="2414016" cy="5852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· Target: $10M–100M ARR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kern="0" spc="100" dirty="0">
                <a:solidFill>
                  <a:srgbClr val="FFFFFF"/>
                </a:solidFill>
              </a:rPr>
              <a:t>THE TEAM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069080" cy="4133088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069080" cy="5486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764792" y="950976"/>
            <a:ext cx="1078992" cy="1078992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764792" y="950976"/>
            <a:ext cx="1078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72C"/>
                </a:solidFill>
              </a:rPr>
              <a:t>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15798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</a:rPr>
              <a:t>Founder &amp; Technical Lead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2633472"/>
            <a:ext cx="3666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Experienced iOS and native developer. Sole architect and builder of the SkratchAds MVP — a second iteration incorporating lessons from a 2011–2014 predecessor. Full-stack across mobile, web, and ad serving infrastructure.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3712464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Key Strengths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" y="4005072"/>
            <a:ext cx="0" cy="0"/>
          </a:xfrm>
          <a:prstGeom prst="ellipse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" y="3986784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· iOS / native mobile development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" y="4005072"/>
            <a:ext cx="0" cy="0"/>
          </a:xfrm>
          <a:prstGeom prst="ellipse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" y="418795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· Full-stack web + AWS/Postgres/S3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5488" y="4005072"/>
            <a:ext cx="0" cy="0"/>
          </a:xfrm>
          <a:prstGeom prst="ellipse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" y="438912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· Ad serving systems &amp; SDK architecture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" y="4005072"/>
            <a:ext cx="0" cy="0"/>
          </a:xfrm>
          <a:prstGeom prst="ellipse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5488" y="4590288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· End-to-end product execution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804672"/>
            <a:ext cx="4069080" cy="4133088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804672"/>
            <a:ext cx="4069080" cy="54864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99632" y="950976"/>
            <a:ext cx="1078992" cy="1078992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99632" y="950976"/>
            <a:ext cx="107899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9972C"/>
                </a:solidFill>
              </a:rPr>
              <a:t>C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892040" y="2157984"/>
            <a:ext cx="3703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6B"/>
                </a:solidFill>
              </a:rPr>
              <a:t>Founder &amp; Strategy Lead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0328" y="2633472"/>
            <a:ext cx="3666744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A"/>
                </a:solidFill>
              </a:rPr>
              <a:t>Original concept originator in 2011. Persistent long-term vision holder who brought the product back to life. Leads strategic direction, advertising partnerships, and business development.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10328" y="3712464"/>
            <a:ext cx="3666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Key Strengths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10328" y="4005072"/>
            <a:ext cx="0" cy="0"/>
          </a:xfrm>
          <a:prstGeom prst="ellipse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10328" y="3986784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· Advertising strategy &amp; GTM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10328" y="4005072"/>
            <a:ext cx="0" cy="0"/>
          </a:xfrm>
          <a:prstGeom prst="ellipse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910328" y="4187952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· Brand and publisher partnerships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10328" y="4005072"/>
            <a:ext cx="0" cy="0"/>
          </a:xfrm>
          <a:prstGeom prst="ellipse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910328" y="4389120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· Business development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910328" y="4005072"/>
            <a:ext cx="0" cy="0"/>
          </a:xfrm>
          <a:prstGeom prst="ellipse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910328" y="4590288"/>
            <a:ext cx="3666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A"/>
                </a:solidFill>
              </a:rPr>
              <a:t>· Long-term product vision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754880"/>
            <a:ext cx="3840480" cy="109728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C9972C"/>
                </a:solidFill>
              </a:rPr>
              <a:t>THE ASK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Seeking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$2M–$3M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7249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9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65760" y="44074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hello@skratchads.com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60520" y="50292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6B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160520" y="914400"/>
            <a:ext cx="1097280" cy="36576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60520" y="1060704"/>
            <a:ext cx="4663440" cy="822960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60520" y="1060704"/>
            <a:ext cx="713232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60520" y="1060704"/>
            <a:ext cx="713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72C"/>
                </a:solidFill>
              </a:rPr>
              <a:t>40%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56048" y="115214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A"/>
                </a:solidFill>
              </a:rPr>
              <a:t>Publisher Acquisition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956048" y="15179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Direct outreach, onboarding 200+ apps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60520" y="2011680"/>
            <a:ext cx="4663440" cy="822960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160520" y="2011680"/>
            <a:ext cx="713232" cy="822960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60520" y="2011680"/>
            <a:ext cx="713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30%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56048" y="210312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A"/>
                </a:solidFill>
              </a:rPr>
              <a:t>Native SDK Development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56048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iOS &amp; Android SDK builds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60520" y="2962656"/>
            <a:ext cx="4663440" cy="822960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60520" y="2962656"/>
            <a:ext cx="713232" cy="82296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60520" y="2962656"/>
            <a:ext cx="713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72C"/>
                </a:solidFill>
              </a:rPr>
              <a:t>20%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56048" y="305409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A"/>
                </a:solidFill>
              </a:rPr>
              <a:t>Platform Infrastructure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56048" y="3419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Targeting, mediation, internal auction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60520" y="3913632"/>
            <a:ext cx="4663440" cy="822960"/>
          </a:xfrm>
          <a:prstGeom prst="rect">
            <a:avLst/>
          </a:prstGeom>
          <a:solidFill>
            <a:srgbClr val="F4F6FA"/>
          </a:solidFill>
          <a:ln/>
          <a:effectLst>
            <a:outerShdw blurRad="127000" dist="25400" dir="8100000" algn="bl" rotWithShape="0">
              <a:srgbClr val="1B3A6B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160520" y="3913632"/>
            <a:ext cx="713232" cy="822960"/>
          </a:xfrm>
          <a:prstGeom prst="rect">
            <a:avLst/>
          </a:prstGeom>
          <a:solidFill>
            <a:srgbClr val="C997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60520" y="3913632"/>
            <a:ext cx="713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10%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56048" y="400507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B3A"/>
                </a:solidFill>
              </a:rPr>
              <a:t>Operations &amp; Legal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956048" y="4370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</a:rPr>
              <a:t>Sweepstakes compliance, team expansion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60520" y="48646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6A8"/>
                </a:solidFill>
              </a:rPr>
              <a:t>Sources: Statista, SensorTower, AppLovin, Business of Apps, Yango Ads, NASPL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1216</Words>
  <Application>Microsoft Macintosh PowerPoint</Application>
  <PresentationFormat>On-screen Show (16:9)</PresentationFormat>
  <Paragraphs>254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SkratchAds — Investor Presentation 2026</dc:title>
  <dc:subject>PptxGenJS Presentation</dc:subject>
  <dc:creator>PptxGenJS</dc:creator>
  <cp:lastModifiedBy>Cameron Naz</cp:lastModifiedBy>
  <cp:revision>5</cp:revision>
  <dcterms:created xsi:type="dcterms:W3CDTF">2026-03-04T23:48:37Z</dcterms:created>
  <dcterms:modified xsi:type="dcterms:W3CDTF">2026-03-05T01:30:57Z</dcterms:modified>
</cp:coreProperties>
</file>